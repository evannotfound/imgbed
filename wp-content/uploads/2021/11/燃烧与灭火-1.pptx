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8" r:id="rId4"/>
    <p:sldId id="259" r:id="rId5"/>
    <p:sldId id="260" r:id="rId6"/>
    <p:sldId id="262" r:id="rId7"/>
    <p:sldId id="265" r:id="rId8"/>
    <p:sldId id="268" r:id="rId9"/>
    <p:sldId id="269" r:id="rId10"/>
    <p:sldId id="270" r:id="rId11"/>
    <p:sldId id="271" r:id="rId12"/>
    <p:sldId id="281" r:id="rId13"/>
    <p:sldId id="282" r:id="rId14"/>
    <p:sldId id="283" r:id="rId15"/>
    <p:sldId id="284" r:id="rId16"/>
    <p:sldId id="285" r:id="rId17"/>
    <p:sldId id="286" r:id="rId18"/>
    <p:sldId id="287" r:id="rId19"/>
    <p:sldId id="288" r:id="rId20"/>
    <p:sldId id="28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49" autoAdjust="0"/>
    <p:restoredTop sz="95775" autoAdjust="0"/>
  </p:normalViewPr>
  <p:slideViewPr>
    <p:cSldViewPr snapToGrid="0">
      <p:cViewPr varScale="1">
        <p:scale>
          <a:sx n="105" d="100"/>
          <a:sy n="105" d="100"/>
        </p:scale>
        <p:origin x="704"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27:44.344"/>
    </inkml:context>
    <inkml:brush xml:id="br0">
      <inkml:brushProperty name="width" value="0.05" units="cm"/>
      <inkml:brushProperty name="height" value="0.05" units="cm"/>
      <inkml:brushProperty name="color" value="#E71224"/>
    </inkml:brush>
  </inkml:definitions>
  <inkml:trace contextRef="#ctx0" brushRef="#br0">275 1 24575,'8'41'0,"-4"-20"0,-2 39 0,-1 36 0,-2 12 0,-1-13 0,-2-14 0,-1-4 0,-1 9 0,2-8 0,1 11 0,-1 6 0,0 0 0,0-6 0,-1-12 0,-3 11 0,-1-11 0,1-4-4916,-2 21 1,0-17 4835,0-30 80,9-36 2607,-6 11-2607,-1 0 1536,3 6-1536,-23 19 0,23-29 0,-30 31 0,21-27 5768,-13 16-5768,11-12 0,1 0 0,11-14 0,-3-4 0,6-1 0,-3-3 0,1 1 0,2 1 0,-3-1 0,4-4 0,-3 1 0,2-5 0,-2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27:45.051"/>
    </inkml:context>
    <inkml:brush xml:id="br0">
      <inkml:brushProperty name="width" value="0.05" units="cm"/>
      <inkml:brushProperty name="height" value="0.05" units="cm"/>
      <inkml:brushProperty name="color" value="#E71224"/>
    </inkml:brush>
  </inkml:definitions>
  <inkml:trace contextRef="#ctx0" brushRef="#br0">0 1 24575,'4'8'0,"-4"-1"0,7 1 0,-6 0 0,6-4 0,5 17 0,28 22 0,-13-9 0,18 14 0,2 0 0,-19-21-3392,30 32 0,0-1 3392,-33-33 0,42 42 0,-21-23 0,-3-3 0,-5-3 0,15 13 0,14 12 0,-13-11 0,-12-10 0,17 14 0,15 15 0,-15-15 0,-16-14 0,18 17 0,16 15 0,-17-18 0,-22-23 0,14 19 0,14 14 0,-16-16 0,-21-24 0,37 43 0,-2-1 6784,-43-46-6784,25 28 0,-1-2 0,-29-31 0,37 39 0,-42-44 0,7 6 0,-14-15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34:28.219"/>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2169 0 24575,'-30'44'0,"-1"-1"0,8-17-1348,-7 20 1,3-1 1347,16-30 0,-1 1 856,-18 25-856,-1 0 0,-2 2 0,-8 12-2939,-12 8 0,3-6 2939,28-30 0,-31 30 0,0 0 0,26-34 0,-25 33 0,-3 1 0,24-28-1802,-26 26 0,1-1 1802,28-31-1213,-27 27 1,1-2 1212,27-28 0,-24 27 0,2 0 0,28-28-671,-22 21 1,1 1 670,26-26 1468,-55 49-1468,56-50 1268,-45 42-1268,46-42 2840,-39 32-2840,40-34 1795,-29 23-1795,30-23 0,-27 23 0,27-23 2239,-27 23-2239,14-13 0,-1 2 0,-6 2 0,25-17 0,-17 13 0,18-16 2220,-16 15-2220,13-19 1863,-13 23-1863,12-18 1394,-15 18-1394,15-15 0,-26 18 0,27-16 0,-33 20 0,34-22 0,-31 16 0,31-17 0,-13 2 0,10 3 0,1-11 0,-12 18 0,13-19 0,-13 19 0,5-11 0,1 2 0,-6 5 0,12-14 0,-8 14 0,10-11 0,-11 5 0,13-3 0,-11 0 0,12-4 0,-3 3 0,4-10 0,4 2 0,0-6 0,4-8 0,-3 9 0,2-5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34:29.044"/>
    </inkml:context>
    <inkml:brush xml:id="br0">
      <inkml:brushProperty name="width" value="0.1" units="cm"/>
      <inkml:brushProperty name="height" value="0.1" units="cm"/>
      <inkml:brushProperty name="color" value="#AE198D"/>
      <inkml:brushProperty name="inkEffects" value="galaxy"/>
      <inkml:brushProperty name="anchorX" value="-21817.03906"/>
      <inkml:brushProperty name="anchorY" value="-13156.33301"/>
      <inkml:brushProperty name="scaleFactor" value="0.5"/>
    </inkml:brush>
  </inkml:definitions>
  <inkml:trace contextRef="#ctx0" brushRef="#br0">1 0 24575,'12'0'0,"-1"0"0,-3 0 0,0 4 0,10 3 0,-7 2 0,45 27 0,-35-22-827,36 25 827,-36-26-1185,6 6 1185,-3-3 0,24 20 0,6 3 0,3 2 0,14 14 0,-5-7 0,12 9 0,-13-10-741,-1-2 741,-9-6 0,15 12 0,0-1 0,-16-10 0,8 4 0,-1-2 0,18 13 0,-1 0 0,-20-14 0,-8-2 0,8 2 0,22 14 0,0 0 0,-21-13 0,-8-1 0,21 12 0,20 12 0,-23-14 746,-31-19-746,18 10 0,16 11 0,-18-11 1185,-23-13-1185,47 31 0,-1-2 0,-49-35 0,33 24 0,-3-3 0,-39-28 0,24 18 0,-1 0 0,-26-16 0,44 31 0,-47-40 822,15 15-822,-23-19 0,2-1 0,-3 3 0,7 1 0,-2-3 0,-1 6 0,13 3 0,-13-3 0,27 17 0,-23-21 0,20 21 0,-22-21 0,15 15 0,-18-13 0,10 2 0,-12-3 0,6-4 0,-6 3 0,2-6 0,-3 6 0,0-3 0,3 1 0,1 5 0,1-8 0,2 8 0,-6-9 0,-2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278C-940B-4C39-9CBC-669F45D4F0E2}" type="datetimeFigureOut">
              <a:rPr lang="zh-CN" altLang="en-US" smtClean="0"/>
              <a:t>2021/11/15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10183-7E5D-4282-9F1A-D4A1D08A6C67}" type="slidenum">
              <a:rPr lang="zh-CN" altLang="en-US" smtClean="0"/>
              <a:t>‹#›</a:t>
            </a:fld>
            <a:endParaRPr lang="zh-CN" altLang="en-US"/>
          </a:p>
        </p:txBody>
      </p:sp>
    </p:spTree>
    <p:extLst>
      <p:ext uri="{BB962C8B-B14F-4D97-AF65-F5344CB8AC3E}">
        <p14:creationId xmlns:p14="http://schemas.microsoft.com/office/powerpoint/2010/main" val="393715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https://www.ypppt.com/</a:t>
            </a:r>
            <a:endParaRPr lang="zh-CN" altLang="en-US" dirty="0"/>
          </a:p>
        </p:txBody>
      </p:sp>
      <p:sp>
        <p:nvSpPr>
          <p:cNvPr id="4" name="灯片编号占位符 3"/>
          <p:cNvSpPr>
            <a:spLocks noGrp="1"/>
          </p:cNvSpPr>
          <p:nvPr>
            <p:ph type="sldNum" sz="quarter" idx="10"/>
          </p:nvPr>
        </p:nvSpPr>
        <p:spPr/>
        <p:txBody>
          <a:bodyPr/>
          <a:lstStyle/>
          <a:p>
            <a:fld id="{4D710183-7E5D-4282-9F1A-D4A1D08A6C67}" type="slidenum">
              <a:rPr lang="zh-CN" altLang="en-US" smtClean="0"/>
              <a:t>7</a:t>
            </a:fld>
            <a:endParaRPr lang="zh-CN" altLang="en-US"/>
          </a:p>
        </p:txBody>
      </p:sp>
    </p:spTree>
    <p:extLst>
      <p:ext uri="{BB962C8B-B14F-4D97-AF65-F5344CB8AC3E}">
        <p14:creationId xmlns:p14="http://schemas.microsoft.com/office/powerpoint/2010/main" val="3784349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11" name="TextBox 10"/>
          <p:cNvSpPr txBox="1"/>
          <p:nvPr userDrawn="1"/>
        </p:nvSpPr>
        <p:spPr>
          <a:xfrm>
            <a:off x="2123605" y="6860999"/>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681170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2021/11/15</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1345479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2021/11/15</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635803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4353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7298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822EAB1A-0613-4B84-B43A-020769A84C2F}"/>
              </a:ext>
            </a:extLst>
          </p:cNvPr>
          <p:cNvSpPr/>
          <p:nvPr/>
        </p:nvSpPr>
        <p:spPr>
          <a:xfrm rot="2684577">
            <a:off x="1698063" y="-917755"/>
            <a:ext cx="8693513" cy="8693513"/>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圆角 3">
            <a:extLst>
              <a:ext uri="{FF2B5EF4-FFF2-40B4-BE49-F238E27FC236}">
                <a16:creationId xmlns:a16="http://schemas.microsoft.com/office/drawing/2014/main" id="{CFAF4C25-9AB4-4329-B21C-0F7CB88F0784}"/>
              </a:ext>
            </a:extLst>
          </p:cNvPr>
          <p:cNvSpPr/>
          <p:nvPr/>
        </p:nvSpPr>
        <p:spPr>
          <a:xfrm rot="2684577">
            <a:off x="2627892" y="-39108"/>
            <a:ext cx="6936217" cy="6936217"/>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文本框 6">
            <a:extLst>
              <a:ext uri="{FF2B5EF4-FFF2-40B4-BE49-F238E27FC236}">
                <a16:creationId xmlns:a16="http://schemas.microsoft.com/office/drawing/2014/main" id="{D2947702-0219-4F74-958A-0A5A704ECCC4}"/>
              </a:ext>
            </a:extLst>
          </p:cNvPr>
          <p:cNvSpPr txBox="1"/>
          <p:nvPr/>
        </p:nvSpPr>
        <p:spPr>
          <a:xfrm>
            <a:off x="2705100" y="2967335"/>
            <a:ext cx="6781800" cy="923330"/>
          </a:xfrm>
          <a:prstGeom prst="rect">
            <a:avLst/>
          </a:prstGeom>
          <a:noFill/>
        </p:spPr>
        <p:txBody>
          <a:bodyPr wrap="square" rtlCol="0">
            <a:spAutoFit/>
          </a:bodyPr>
          <a:lstStyle/>
          <a:p>
            <a:pPr algn="ctr"/>
            <a:r>
              <a:rPr lang="zh-CN" altLang="en-US" sz="5400" spc="1000" dirty="0">
                <a:solidFill>
                  <a:schemeClr val="tx1">
                    <a:lumMod val="85000"/>
                    <a:lumOff val="15000"/>
                  </a:schemeClr>
                </a:solidFill>
                <a:cs typeface="+mn-ea"/>
                <a:sym typeface="+mn-lt"/>
              </a:rPr>
              <a:t>燃烧与灭火</a:t>
            </a:r>
          </a:p>
        </p:txBody>
      </p:sp>
      <p:sp>
        <p:nvSpPr>
          <p:cNvPr id="8" name="椭圆 7">
            <a:extLst>
              <a:ext uri="{FF2B5EF4-FFF2-40B4-BE49-F238E27FC236}">
                <a16:creationId xmlns:a16="http://schemas.microsoft.com/office/drawing/2014/main" id="{08B93554-9443-4291-83BC-91BEC5088783}"/>
              </a:ext>
            </a:extLst>
          </p:cNvPr>
          <p:cNvSpPr/>
          <p:nvPr/>
        </p:nvSpPr>
        <p:spPr>
          <a:xfrm>
            <a:off x="683912" y="52428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椭圆 8">
            <a:extLst>
              <a:ext uri="{FF2B5EF4-FFF2-40B4-BE49-F238E27FC236}">
                <a16:creationId xmlns:a16="http://schemas.microsoft.com/office/drawing/2014/main" id="{16338DEE-2916-4AC7-A537-1507B9F2A824}"/>
              </a:ext>
            </a:extLst>
          </p:cNvPr>
          <p:cNvSpPr/>
          <p:nvPr/>
        </p:nvSpPr>
        <p:spPr>
          <a:xfrm>
            <a:off x="10464448" y="9333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C0EF9AE3-F1B9-443C-9F86-CDF322936010}"/>
              </a:ext>
            </a:extLst>
          </p:cNvPr>
          <p:cNvGrpSpPr/>
          <p:nvPr/>
        </p:nvGrpSpPr>
        <p:grpSpPr>
          <a:xfrm>
            <a:off x="2705100" y="4444293"/>
            <a:ext cx="6781800" cy="538609"/>
            <a:chOff x="4054927" y="4937733"/>
            <a:chExt cx="1910443" cy="538609"/>
          </a:xfrm>
        </p:grpSpPr>
        <p:sp>
          <p:nvSpPr>
            <p:cNvPr id="12" name="矩形: 圆角 11">
              <a:extLst>
                <a:ext uri="{FF2B5EF4-FFF2-40B4-BE49-F238E27FC236}">
                  <a16:creationId xmlns:a16="http://schemas.microsoft.com/office/drawing/2014/main" id="{4E9D624C-B884-49D6-955A-058878E5E13C}"/>
                </a:ext>
              </a:extLst>
            </p:cNvPr>
            <p:cNvSpPr/>
            <p:nvPr/>
          </p:nvSpPr>
          <p:spPr>
            <a:xfrm>
              <a:off x="4204607" y="4937733"/>
              <a:ext cx="1611085" cy="338554"/>
            </a:xfrm>
            <a:prstGeom prst="roundRect">
              <a:avLst>
                <a:gd name="adj" fmla="val 30172"/>
              </a:avLst>
            </a:prstGeom>
            <a:solidFill>
              <a:schemeClr val="bg1"/>
            </a:solidFill>
            <a:ln>
              <a:noFill/>
            </a:ln>
            <a:effectLst>
              <a:outerShdw blurRad="1651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D7F488F0-218D-4123-B444-742EAD00AD0E}"/>
                </a:ext>
              </a:extLst>
            </p:cNvPr>
            <p:cNvSpPr txBox="1"/>
            <p:nvPr/>
          </p:nvSpPr>
          <p:spPr>
            <a:xfrm>
              <a:off x="4054927" y="4953122"/>
              <a:ext cx="1910443" cy="523220"/>
            </a:xfrm>
            <a:prstGeom prst="rect">
              <a:avLst/>
            </a:prstGeom>
            <a:noFill/>
          </p:spPr>
          <p:txBody>
            <a:bodyPr wrap="square" rtlCol="0">
              <a:spAutoFit/>
            </a:bodyPr>
            <a:lstStyle/>
            <a:p>
              <a:pPr algn="ctr"/>
              <a:r>
                <a:rPr lang="en-CN" altLang="zh-CN" sz="1400" dirty="0">
                  <a:latin typeface="Century Gothic" panose="020B0502020202020204" pitchFamily="34" charset="0"/>
                  <a:cs typeface="Apple Chancery" panose="03020702040506060504" pitchFamily="66" charset="-79"/>
                  <a:sym typeface="+mn-lt"/>
                </a:rPr>
                <a:t>Presented</a:t>
              </a:r>
              <a:r>
                <a:rPr lang="zh-CN" altLang="en-US" sz="1400" dirty="0">
                  <a:latin typeface="Century Gothic" panose="020B0502020202020204" pitchFamily="34" charset="0"/>
                  <a:cs typeface="Apple Chancery" panose="03020702040506060504" pitchFamily="66" charset="-79"/>
                  <a:sym typeface="+mn-lt"/>
                </a:rPr>
                <a:t> </a:t>
              </a:r>
              <a:r>
                <a:rPr lang="en-US" altLang="zh-CN" sz="1400" dirty="0">
                  <a:latin typeface="Century Gothic" panose="020B0502020202020204" pitchFamily="34" charset="0"/>
                  <a:cs typeface="Apple Chancery" panose="03020702040506060504" pitchFamily="66" charset="-79"/>
                  <a:sym typeface="+mn-lt"/>
                </a:rPr>
                <a:t>by</a:t>
              </a:r>
              <a:r>
                <a:rPr lang="zh-CN" altLang="en-US" sz="1400" dirty="0">
                  <a:latin typeface="Century Gothic" panose="020B0502020202020204" pitchFamily="34" charset="0"/>
                  <a:cs typeface="Apple Chancery" panose="03020702040506060504" pitchFamily="66" charset="-79"/>
                </a:rPr>
                <a:t> </a:t>
              </a:r>
              <a:r>
                <a:rPr lang="zh-CN" altLang="en-US" sz="1400" dirty="0"/>
                <a:t>罗嘉劭、</a:t>
              </a:r>
              <a:r>
                <a:rPr lang="zh-CN" altLang="en-CN" sz="1400" dirty="0"/>
                <a:t>顾贝琪</a:t>
              </a:r>
              <a:r>
                <a:rPr lang="zh-CN" altLang="en-US" sz="1400" dirty="0"/>
                <a:t>、</a:t>
              </a:r>
              <a:r>
                <a:rPr lang="zh-CN" altLang="en-CN" sz="1400" dirty="0"/>
                <a:t>黄睿</a:t>
              </a:r>
              <a:r>
                <a:rPr lang="zh-CN" altLang="en-US" sz="1400" dirty="0"/>
                <a:t>凝、周宏远、</a:t>
              </a:r>
              <a:r>
                <a:rPr lang="zh-CN" altLang="en-CN" sz="1400" dirty="0"/>
                <a:t>张俊昊</a:t>
              </a:r>
              <a:endParaRPr lang="en-CN" sz="1400" dirty="0"/>
            </a:p>
            <a:p>
              <a:pPr algn="ctr"/>
              <a:endParaRPr lang="zh-CN" altLang="en-US" sz="1400" dirty="0">
                <a:cs typeface="+mn-ea"/>
                <a:sym typeface="+mn-lt"/>
              </a:endParaRPr>
            </a:p>
          </p:txBody>
        </p:sp>
      </p:grpSp>
    </p:spTree>
    <p:custDataLst>
      <p:tags r:id="rId1"/>
    </p:custDataLst>
    <p:extLst>
      <p:ext uri="{BB962C8B-B14F-4D97-AF65-F5344CB8AC3E}">
        <p14:creationId xmlns:p14="http://schemas.microsoft.com/office/powerpoint/2010/main" val="37210180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extLst>
    <p:ext uri="{E180D4A7-C9FB-4DFB-919C-405C955672EB}">
      <p14:showEvtLst xmlns:p14="http://schemas.microsoft.com/office/powerpoint/2010/main">
        <p14:playEvt time="630" objId="2"/>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F114CFD-6805-4BD5-AF91-92D9E2E5E9D9}"/>
              </a:ext>
            </a:extLst>
          </p:cNvPr>
          <p:cNvSpPr txBox="1"/>
          <p:nvPr/>
        </p:nvSpPr>
        <p:spPr>
          <a:xfrm rot="5400000">
            <a:off x="-800101" y="2705724"/>
            <a:ext cx="9454243" cy="1446550"/>
          </a:xfrm>
          <a:prstGeom prst="rect">
            <a:avLst/>
          </a:prstGeom>
          <a:noFill/>
        </p:spPr>
        <p:txBody>
          <a:bodyPr wrap="square" rtlCol="0">
            <a:spAutoFit/>
          </a:bodyPr>
          <a:lstStyle/>
          <a:p>
            <a:pPr algn="ctr"/>
            <a:r>
              <a:rPr lang="en-US" altLang="zh-CN" sz="8800" spc="500" dirty="0">
                <a:solidFill>
                  <a:schemeClr val="bg1">
                    <a:lumMod val="85000"/>
                  </a:schemeClr>
                </a:solidFill>
                <a:cs typeface="+mn-ea"/>
                <a:sym typeface="+mn-lt"/>
              </a:rPr>
              <a:t>CONTENTES</a:t>
            </a:r>
            <a:endParaRPr lang="zh-CN" altLang="en-US" sz="8800" spc="500" dirty="0">
              <a:solidFill>
                <a:schemeClr val="bg1">
                  <a:lumMod val="85000"/>
                </a:schemeClr>
              </a:solidFill>
              <a:cs typeface="+mn-ea"/>
              <a:sym typeface="+mn-lt"/>
            </a:endParaRPr>
          </a:p>
        </p:txBody>
      </p:sp>
      <p:sp>
        <p:nvSpPr>
          <p:cNvPr id="2" name="矩形 1">
            <a:extLst>
              <a:ext uri="{FF2B5EF4-FFF2-40B4-BE49-F238E27FC236}">
                <a16:creationId xmlns:a16="http://schemas.microsoft.com/office/drawing/2014/main" id="{640B1407-7F82-4105-8296-BC6BDF656B5F}"/>
              </a:ext>
            </a:extLst>
          </p:cNvPr>
          <p:cNvSpPr/>
          <p:nvPr/>
        </p:nvSpPr>
        <p:spPr>
          <a:xfrm>
            <a:off x="0" y="0"/>
            <a:ext cx="3622876" cy="6858000"/>
          </a:xfrm>
          <a:prstGeom prst="rect">
            <a:avLst/>
          </a:prstGeom>
          <a:solidFill>
            <a:schemeClr val="bg1"/>
          </a:solidFill>
          <a:ln>
            <a:noFill/>
          </a:ln>
          <a:effectLst>
            <a:outerShdw blurRad="457200" dist="38100" algn="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文本框 2">
            <a:extLst>
              <a:ext uri="{FF2B5EF4-FFF2-40B4-BE49-F238E27FC236}">
                <a16:creationId xmlns:a16="http://schemas.microsoft.com/office/drawing/2014/main" id="{7A3EA0CB-309F-4C7D-ADCC-73C3AFF5190D}"/>
              </a:ext>
            </a:extLst>
          </p:cNvPr>
          <p:cNvSpPr txBox="1"/>
          <p:nvPr/>
        </p:nvSpPr>
        <p:spPr>
          <a:xfrm>
            <a:off x="1443138" y="1143000"/>
            <a:ext cx="736600" cy="1446550"/>
          </a:xfrm>
          <a:prstGeom prst="rect">
            <a:avLst/>
          </a:prstGeom>
          <a:noFill/>
        </p:spPr>
        <p:txBody>
          <a:bodyPr wrap="square" rtlCol="0">
            <a:spAutoFit/>
          </a:bodyPr>
          <a:lstStyle/>
          <a:p>
            <a:pPr algn="ctr"/>
            <a:r>
              <a:rPr lang="zh-CN" altLang="en-US" sz="8800" dirty="0">
                <a:solidFill>
                  <a:schemeClr val="tx1">
                    <a:lumMod val="75000"/>
                    <a:lumOff val="25000"/>
                  </a:schemeClr>
                </a:solidFill>
                <a:cs typeface="+mn-ea"/>
                <a:sym typeface="+mn-lt"/>
              </a:rPr>
              <a:t>目</a:t>
            </a:r>
          </a:p>
        </p:txBody>
      </p:sp>
      <p:sp>
        <p:nvSpPr>
          <p:cNvPr id="4" name="文本框 3">
            <a:extLst>
              <a:ext uri="{FF2B5EF4-FFF2-40B4-BE49-F238E27FC236}">
                <a16:creationId xmlns:a16="http://schemas.microsoft.com/office/drawing/2014/main" id="{7AF398EB-A11E-46E2-B64F-C8A48B5FE517}"/>
              </a:ext>
            </a:extLst>
          </p:cNvPr>
          <p:cNvSpPr txBox="1"/>
          <p:nvPr/>
        </p:nvSpPr>
        <p:spPr>
          <a:xfrm>
            <a:off x="1443138" y="3711307"/>
            <a:ext cx="736600" cy="1446550"/>
          </a:xfrm>
          <a:prstGeom prst="rect">
            <a:avLst/>
          </a:prstGeom>
          <a:noFill/>
        </p:spPr>
        <p:txBody>
          <a:bodyPr wrap="square" rtlCol="0">
            <a:spAutoFit/>
          </a:bodyPr>
          <a:lstStyle/>
          <a:p>
            <a:pPr algn="ctr"/>
            <a:r>
              <a:rPr lang="zh-CN" altLang="en-US" sz="8800" dirty="0">
                <a:solidFill>
                  <a:schemeClr val="tx1">
                    <a:lumMod val="75000"/>
                    <a:lumOff val="25000"/>
                  </a:schemeClr>
                </a:solidFill>
                <a:cs typeface="+mn-ea"/>
                <a:sym typeface="+mn-lt"/>
              </a:rPr>
              <a:t>录</a:t>
            </a:r>
          </a:p>
        </p:txBody>
      </p:sp>
      <p:grpSp>
        <p:nvGrpSpPr>
          <p:cNvPr id="11" name="组合 10">
            <a:extLst>
              <a:ext uri="{FF2B5EF4-FFF2-40B4-BE49-F238E27FC236}">
                <a16:creationId xmlns:a16="http://schemas.microsoft.com/office/drawing/2014/main" id="{7F8D52C9-7F85-4D30-B507-601C4D12B818}"/>
              </a:ext>
            </a:extLst>
          </p:cNvPr>
          <p:cNvGrpSpPr/>
          <p:nvPr/>
        </p:nvGrpSpPr>
        <p:grpSpPr>
          <a:xfrm>
            <a:off x="5678641" y="310892"/>
            <a:ext cx="928915" cy="781050"/>
            <a:chOff x="5631542" y="718513"/>
            <a:chExt cx="928915" cy="781050"/>
          </a:xfrm>
        </p:grpSpPr>
        <p:sp>
          <p:nvSpPr>
            <p:cNvPr id="6" name="椭圆 5">
              <a:extLst>
                <a:ext uri="{FF2B5EF4-FFF2-40B4-BE49-F238E27FC236}">
                  <a16:creationId xmlns:a16="http://schemas.microsoft.com/office/drawing/2014/main" id="{DF03291C-2718-48B2-9941-35B3933AFFB5}"/>
                </a:ext>
              </a:extLst>
            </p:cNvPr>
            <p:cNvSpPr/>
            <p:nvPr/>
          </p:nvSpPr>
          <p:spPr>
            <a:xfrm>
              <a:off x="5705474" y="718513"/>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AF8D06C3-217A-4BBB-B741-31E33CE3F56D}"/>
                </a:ext>
              </a:extLst>
            </p:cNvPr>
            <p:cNvSpPr txBox="1"/>
            <p:nvPr/>
          </p:nvSpPr>
          <p:spPr>
            <a:xfrm>
              <a:off x="5631542" y="847428"/>
              <a:ext cx="928915" cy="523220"/>
            </a:xfrm>
            <a:prstGeom prst="rect">
              <a:avLst/>
            </a:prstGeom>
            <a:noFill/>
          </p:spPr>
          <p:txBody>
            <a:bodyPr wrap="square" rtlCol="0">
              <a:spAutoFit/>
            </a:bodyPr>
            <a:lstStyle/>
            <a:p>
              <a:pPr algn="ctr"/>
              <a:r>
                <a:rPr lang="en-US" altLang="zh-CN" sz="2800" dirty="0">
                  <a:cs typeface="+mn-ea"/>
                  <a:sym typeface="+mn-lt"/>
                </a:rPr>
                <a:t>01</a:t>
              </a:r>
              <a:endParaRPr lang="zh-CN" altLang="en-US" sz="2800" dirty="0">
                <a:cs typeface="+mn-ea"/>
                <a:sym typeface="+mn-lt"/>
              </a:endParaRPr>
            </a:p>
          </p:txBody>
        </p:sp>
      </p:grpSp>
      <p:grpSp>
        <p:nvGrpSpPr>
          <p:cNvPr id="15" name="组合 14">
            <a:extLst>
              <a:ext uri="{FF2B5EF4-FFF2-40B4-BE49-F238E27FC236}">
                <a16:creationId xmlns:a16="http://schemas.microsoft.com/office/drawing/2014/main" id="{512E557A-76FB-43A4-9A5A-7B570173C5A0}"/>
              </a:ext>
            </a:extLst>
          </p:cNvPr>
          <p:cNvGrpSpPr/>
          <p:nvPr/>
        </p:nvGrpSpPr>
        <p:grpSpPr>
          <a:xfrm>
            <a:off x="5678641" y="1597106"/>
            <a:ext cx="928915" cy="781050"/>
            <a:chOff x="5631542" y="2265155"/>
            <a:chExt cx="928915" cy="781050"/>
          </a:xfrm>
        </p:grpSpPr>
        <p:sp>
          <p:nvSpPr>
            <p:cNvPr id="7" name="椭圆 6">
              <a:extLst>
                <a:ext uri="{FF2B5EF4-FFF2-40B4-BE49-F238E27FC236}">
                  <a16:creationId xmlns:a16="http://schemas.microsoft.com/office/drawing/2014/main" id="{38793AA1-5499-4AE1-8522-BC5C41E302EB}"/>
                </a:ext>
              </a:extLst>
            </p:cNvPr>
            <p:cNvSpPr/>
            <p:nvPr/>
          </p:nvSpPr>
          <p:spPr>
            <a:xfrm>
              <a:off x="5705474" y="2265155"/>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5D236D32-F17E-4BD6-9833-EEA436543117}"/>
                </a:ext>
              </a:extLst>
            </p:cNvPr>
            <p:cNvSpPr txBox="1"/>
            <p:nvPr/>
          </p:nvSpPr>
          <p:spPr>
            <a:xfrm>
              <a:off x="5631542" y="2394070"/>
              <a:ext cx="928915" cy="523220"/>
            </a:xfrm>
            <a:prstGeom prst="rect">
              <a:avLst/>
            </a:prstGeom>
            <a:noFill/>
          </p:spPr>
          <p:txBody>
            <a:bodyPr wrap="square" rtlCol="0">
              <a:spAutoFit/>
            </a:bodyPr>
            <a:lstStyle/>
            <a:p>
              <a:pPr algn="ctr"/>
              <a:r>
                <a:rPr lang="en-US" altLang="zh-CN" sz="2800" dirty="0">
                  <a:cs typeface="+mn-ea"/>
                  <a:sym typeface="+mn-lt"/>
                </a:rPr>
                <a:t>02</a:t>
              </a:r>
              <a:endParaRPr lang="zh-CN" altLang="en-US" sz="2800" dirty="0">
                <a:cs typeface="+mn-ea"/>
                <a:sym typeface="+mn-lt"/>
              </a:endParaRPr>
            </a:p>
          </p:txBody>
        </p:sp>
      </p:grpSp>
      <p:grpSp>
        <p:nvGrpSpPr>
          <p:cNvPr id="16" name="组合 15">
            <a:extLst>
              <a:ext uri="{FF2B5EF4-FFF2-40B4-BE49-F238E27FC236}">
                <a16:creationId xmlns:a16="http://schemas.microsoft.com/office/drawing/2014/main" id="{574ED5B9-BF07-450C-AFCA-624025883E14}"/>
              </a:ext>
            </a:extLst>
          </p:cNvPr>
          <p:cNvGrpSpPr/>
          <p:nvPr/>
        </p:nvGrpSpPr>
        <p:grpSpPr>
          <a:xfrm>
            <a:off x="5678640" y="2883320"/>
            <a:ext cx="928915" cy="781050"/>
            <a:chOff x="5631542" y="3811797"/>
            <a:chExt cx="928915" cy="781050"/>
          </a:xfrm>
        </p:grpSpPr>
        <p:sp>
          <p:nvSpPr>
            <p:cNvPr id="8" name="椭圆 7">
              <a:extLst>
                <a:ext uri="{FF2B5EF4-FFF2-40B4-BE49-F238E27FC236}">
                  <a16:creationId xmlns:a16="http://schemas.microsoft.com/office/drawing/2014/main" id="{1E4D3DDE-A8DD-4CBA-9A43-7492A7821A2A}"/>
                </a:ext>
              </a:extLst>
            </p:cNvPr>
            <p:cNvSpPr/>
            <p:nvPr/>
          </p:nvSpPr>
          <p:spPr>
            <a:xfrm>
              <a:off x="5705474" y="3811797"/>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754A431A-9856-4E6F-A547-9A74580F65F0}"/>
                </a:ext>
              </a:extLst>
            </p:cNvPr>
            <p:cNvSpPr txBox="1"/>
            <p:nvPr/>
          </p:nvSpPr>
          <p:spPr>
            <a:xfrm>
              <a:off x="5631542" y="3940712"/>
              <a:ext cx="928915" cy="523220"/>
            </a:xfrm>
            <a:prstGeom prst="rect">
              <a:avLst/>
            </a:prstGeom>
            <a:noFill/>
          </p:spPr>
          <p:txBody>
            <a:bodyPr wrap="square" rtlCol="0">
              <a:spAutoFit/>
            </a:bodyPr>
            <a:lstStyle/>
            <a:p>
              <a:pPr algn="ctr"/>
              <a:r>
                <a:rPr lang="en-US" altLang="zh-CN" sz="2800" dirty="0">
                  <a:cs typeface="+mn-ea"/>
                  <a:sym typeface="+mn-lt"/>
                </a:rPr>
                <a:t>03</a:t>
              </a:r>
              <a:endParaRPr lang="zh-CN" altLang="en-US" sz="2800" dirty="0">
                <a:cs typeface="+mn-ea"/>
                <a:sym typeface="+mn-lt"/>
              </a:endParaRPr>
            </a:p>
          </p:txBody>
        </p:sp>
      </p:grpSp>
      <p:grpSp>
        <p:nvGrpSpPr>
          <p:cNvPr id="20" name="组合 19">
            <a:extLst>
              <a:ext uri="{FF2B5EF4-FFF2-40B4-BE49-F238E27FC236}">
                <a16:creationId xmlns:a16="http://schemas.microsoft.com/office/drawing/2014/main" id="{697ED3E6-2752-4956-806C-41725E21062C}"/>
              </a:ext>
            </a:extLst>
          </p:cNvPr>
          <p:cNvGrpSpPr/>
          <p:nvPr/>
        </p:nvGrpSpPr>
        <p:grpSpPr>
          <a:xfrm>
            <a:off x="6681488" y="475476"/>
            <a:ext cx="5017284" cy="667524"/>
            <a:chOff x="6725021" y="718513"/>
            <a:chExt cx="5017284" cy="667524"/>
          </a:xfrm>
        </p:grpSpPr>
        <p:sp>
          <p:nvSpPr>
            <p:cNvPr id="18" name="文本框 17">
              <a:extLst>
                <a:ext uri="{FF2B5EF4-FFF2-40B4-BE49-F238E27FC236}">
                  <a16:creationId xmlns:a16="http://schemas.microsoft.com/office/drawing/2014/main" id="{CEE315A5-BE1C-4099-B69E-F5AA0D37DCF1}"/>
                </a:ext>
              </a:extLst>
            </p:cNvPr>
            <p:cNvSpPr txBox="1"/>
            <p:nvPr/>
          </p:nvSpPr>
          <p:spPr>
            <a:xfrm>
              <a:off x="6725021" y="718513"/>
              <a:ext cx="5017284" cy="461665"/>
            </a:xfrm>
            <a:prstGeom prst="rect">
              <a:avLst/>
            </a:prstGeom>
            <a:noFill/>
          </p:spPr>
          <p:txBody>
            <a:bodyPr wrap="square" rtlCol="0">
              <a:spAutoFit/>
            </a:bodyPr>
            <a:lstStyle/>
            <a:p>
              <a:r>
                <a:rPr lang="zh-CN" altLang="en-US" sz="2400" spc="300" dirty="0">
                  <a:cs typeface="+mn-ea"/>
                  <a:sym typeface="+mn-lt"/>
                </a:rPr>
                <a:t>哪些物质会燃烧，有什么共同点？</a:t>
              </a:r>
            </a:p>
          </p:txBody>
        </p:sp>
        <p:sp>
          <p:nvSpPr>
            <p:cNvPr id="19" name="文本框 18">
              <a:extLst>
                <a:ext uri="{FF2B5EF4-FFF2-40B4-BE49-F238E27FC236}">
                  <a16:creationId xmlns:a16="http://schemas.microsoft.com/office/drawing/2014/main" id="{1217B4D2-D1DC-4534-832D-8F7174D47393}"/>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21" name="组合 20">
            <a:extLst>
              <a:ext uri="{FF2B5EF4-FFF2-40B4-BE49-F238E27FC236}">
                <a16:creationId xmlns:a16="http://schemas.microsoft.com/office/drawing/2014/main" id="{054FD321-DC91-4350-8415-D468436A33C3}"/>
              </a:ext>
            </a:extLst>
          </p:cNvPr>
          <p:cNvGrpSpPr/>
          <p:nvPr/>
        </p:nvGrpSpPr>
        <p:grpSpPr>
          <a:xfrm>
            <a:off x="6677150" y="1827160"/>
            <a:ext cx="4191000" cy="667524"/>
            <a:chOff x="6725021" y="718513"/>
            <a:chExt cx="4191000" cy="667524"/>
          </a:xfrm>
        </p:grpSpPr>
        <p:sp>
          <p:nvSpPr>
            <p:cNvPr id="22" name="文本框 21">
              <a:extLst>
                <a:ext uri="{FF2B5EF4-FFF2-40B4-BE49-F238E27FC236}">
                  <a16:creationId xmlns:a16="http://schemas.microsoft.com/office/drawing/2014/main" id="{FCA6002E-C2CB-4553-8CF1-D385409B61D1}"/>
                </a:ext>
              </a:extLst>
            </p:cNvPr>
            <p:cNvSpPr txBox="1"/>
            <p:nvPr/>
          </p:nvSpPr>
          <p:spPr>
            <a:xfrm>
              <a:off x="6725021" y="718513"/>
              <a:ext cx="3846412" cy="461665"/>
            </a:xfrm>
            <a:prstGeom prst="rect">
              <a:avLst/>
            </a:prstGeom>
            <a:noFill/>
          </p:spPr>
          <p:txBody>
            <a:bodyPr wrap="square" rtlCol="0">
              <a:spAutoFit/>
            </a:bodyPr>
            <a:lstStyle/>
            <a:p>
              <a:r>
                <a:rPr lang="zh-CN" altLang="en-US" sz="2400" spc="300" dirty="0">
                  <a:cs typeface="+mn-ea"/>
                  <a:sym typeface="+mn-lt"/>
                </a:rPr>
                <a:t>为什么氧气助燃？</a:t>
              </a:r>
            </a:p>
          </p:txBody>
        </p:sp>
        <p:sp>
          <p:nvSpPr>
            <p:cNvPr id="23" name="文本框 22">
              <a:extLst>
                <a:ext uri="{FF2B5EF4-FFF2-40B4-BE49-F238E27FC236}">
                  <a16:creationId xmlns:a16="http://schemas.microsoft.com/office/drawing/2014/main" id="{1B0047E7-422B-43C3-91B6-8838478EFC10}"/>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24" name="组合 23">
            <a:extLst>
              <a:ext uri="{FF2B5EF4-FFF2-40B4-BE49-F238E27FC236}">
                <a16:creationId xmlns:a16="http://schemas.microsoft.com/office/drawing/2014/main" id="{DA38CBEA-AFA5-41FA-A3BD-809C43F3A6C2}"/>
              </a:ext>
            </a:extLst>
          </p:cNvPr>
          <p:cNvGrpSpPr/>
          <p:nvPr/>
        </p:nvGrpSpPr>
        <p:grpSpPr>
          <a:xfrm>
            <a:off x="6677150" y="3056260"/>
            <a:ext cx="4191000" cy="667524"/>
            <a:chOff x="6725021" y="718513"/>
            <a:chExt cx="4191000" cy="667524"/>
          </a:xfrm>
        </p:grpSpPr>
        <p:sp>
          <p:nvSpPr>
            <p:cNvPr id="25" name="文本框 24">
              <a:extLst>
                <a:ext uri="{FF2B5EF4-FFF2-40B4-BE49-F238E27FC236}">
                  <a16:creationId xmlns:a16="http://schemas.microsoft.com/office/drawing/2014/main" id="{9F3502C6-7FDF-44BD-8505-81C1D207716F}"/>
                </a:ext>
              </a:extLst>
            </p:cNvPr>
            <p:cNvSpPr txBox="1"/>
            <p:nvPr/>
          </p:nvSpPr>
          <p:spPr>
            <a:xfrm>
              <a:off x="6725021" y="718513"/>
              <a:ext cx="3846412" cy="461665"/>
            </a:xfrm>
            <a:prstGeom prst="rect">
              <a:avLst/>
            </a:prstGeom>
            <a:noFill/>
          </p:spPr>
          <p:txBody>
            <a:bodyPr wrap="square" rtlCol="0">
              <a:spAutoFit/>
            </a:bodyPr>
            <a:lstStyle/>
            <a:p>
              <a:r>
                <a:rPr lang="zh-CN" altLang="en-US" sz="2400" spc="300" dirty="0">
                  <a:cs typeface="+mn-ea"/>
                  <a:sym typeface="+mn-lt"/>
                </a:rPr>
                <a:t>真空中能燃烧吗？</a:t>
              </a:r>
            </a:p>
          </p:txBody>
        </p:sp>
        <p:sp>
          <p:nvSpPr>
            <p:cNvPr id="26" name="文本框 25">
              <a:extLst>
                <a:ext uri="{FF2B5EF4-FFF2-40B4-BE49-F238E27FC236}">
                  <a16:creationId xmlns:a16="http://schemas.microsoft.com/office/drawing/2014/main" id="{9697D371-8047-4E3C-838F-6744133B462A}"/>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30" name="组合 16">
            <a:extLst>
              <a:ext uri="{FF2B5EF4-FFF2-40B4-BE49-F238E27FC236}">
                <a16:creationId xmlns:a16="http://schemas.microsoft.com/office/drawing/2014/main" id="{FB9C8730-30DF-A545-808E-A801D6A4A244}"/>
              </a:ext>
            </a:extLst>
          </p:cNvPr>
          <p:cNvGrpSpPr/>
          <p:nvPr/>
        </p:nvGrpSpPr>
        <p:grpSpPr>
          <a:xfrm>
            <a:off x="5674303" y="4169534"/>
            <a:ext cx="928915" cy="781050"/>
            <a:chOff x="5631541" y="5358438"/>
            <a:chExt cx="928915" cy="781050"/>
          </a:xfrm>
        </p:grpSpPr>
        <p:sp>
          <p:nvSpPr>
            <p:cNvPr id="31" name="椭圆 8">
              <a:extLst>
                <a:ext uri="{FF2B5EF4-FFF2-40B4-BE49-F238E27FC236}">
                  <a16:creationId xmlns:a16="http://schemas.microsoft.com/office/drawing/2014/main" id="{3358EED7-6BCD-9048-8B2B-19D72C78A9FD}"/>
                </a:ext>
              </a:extLst>
            </p:cNvPr>
            <p:cNvSpPr/>
            <p:nvPr/>
          </p:nvSpPr>
          <p:spPr>
            <a:xfrm>
              <a:off x="5705473" y="5358438"/>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13">
              <a:extLst>
                <a:ext uri="{FF2B5EF4-FFF2-40B4-BE49-F238E27FC236}">
                  <a16:creationId xmlns:a16="http://schemas.microsoft.com/office/drawing/2014/main" id="{44B7B038-1E8A-564E-94AF-9D38DFDC301F}"/>
                </a:ext>
              </a:extLst>
            </p:cNvPr>
            <p:cNvSpPr txBox="1"/>
            <p:nvPr/>
          </p:nvSpPr>
          <p:spPr>
            <a:xfrm>
              <a:off x="5631541" y="5487353"/>
              <a:ext cx="928915" cy="523220"/>
            </a:xfrm>
            <a:prstGeom prst="rect">
              <a:avLst/>
            </a:prstGeom>
            <a:noFill/>
          </p:spPr>
          <p:txBody>
            <a:bodyPr wrap="square" rtlCol="0">
              <a:spAutoFit/>
            </a:bodyPr>
            <a:lstStyle/>
            <a:p>
              <a:pPr algn="ctr"/>
              <a:r>
                <a:rPr lang="en-US" altLang="zh-CN" sz="2800" dirty="0">
                  <a:cs typeface="+mn-ea"/>
                  <a:sym typeface="+mn-lt"/>
                </a:rPr>
                <a:t>04</a:t>
              </a:r>
              <a:endParaRPr lang="zh-CN" altLang="en-US" sz="2800" dirty="0">
                <a:cs typeface="+mn-ea"/>
                <a:sym typeface="+mn-lt"/>
              </a:endParaRPr>
            </a:p>
          </p:txBody>
        </p:sp>
      </p:grpSp>
      <p:grpSp>
        <p:nvGrpSpPr>
          <p:cNvPr id="33" name="组合 26">
            <a:extLst>
              <a:ext uri="{FF2B5EF4-FFF2-40B4-BE49-F238E27FC236}">
                <a16:creationId xmlns:a16="http://schemas.microsoft.com/office/drawing/2014/main" id="{A23CB666-D07A-7A47-88D4-BF64A72BB985}"/>
              </a:ext>
            </a:extLst>
          </p:cNvPr>
          <p:cNvGrpSpPr/>
          <p:nvPr/>
        </p:nvGrpSpPr>
        <p:grpSpPr>
          <a:xfrm>
            <a:off x="6677150" y="4144560"/>
            <a:ext cx="4191000" cy="830997"/>
            <a:chOff x="6725021" y="718513"/>
            <a:chExt cx="4191000" cy="830997"/>
          </a:xfrm>
        </p:grpSpPr>
        <p:sp>
          <p:nvSpPr>
            <p:cNvPr id="34" name="文本框 27">
              <a:extLst>
                <a:ext uri="{FF2B5EF4-FFF2-40B4-BE49-F238E27FC236}">
                  <a16:creationId xmlns:a16="http://schemas.microsoft.com/office/drawing/2014/main" id="{671E6A4E-8353-7940-901C-C404AEB1259B}"/>
                </a:ext>
              </a:extLst>
            </p:cNvPr>
            <p:cNvSpPr txBox="1"/>
            <p:nvPr/>
          </p:nvSpPr>
          <p:spPr>
            <a:xfrm>
              <a:off x="6725021" y="718513"/>
              <a:ext cx="3846412" cy="830997"/>
            </a:xfrm>
            <a:prstGeom prst="rect">
              <a:avLst/>
            </a:prstGeom>
            <a:noFill/>
          </p:spPr>
          <p:txBody>
            <a:bodyPr wrap="square" rtlCol="0">
              <a:spAutoFit/>
            </a:bodyPr>
            <a:lstStyle/>
            <a:p>
              <a:r>
                <a:rPr lang="zh-CN" altLang="en-US" sz="2400" spc="300" dirty="0">
                  <a:cs typeface="+mn-ea"/>
                  <a:sym typeface="+mn-lt"/>
                </a:rPr>
                <a:t>为什么燃烧后会生成灰烬（发黑）不再燃烧？</a:t>
              </a:r>
            </a:p>
          </p:txBody>
        </p:sp>
        <p:sp>
          <p:nvSpPr>
            <p:cNvPr id="35" name="文本框 28">
              <a:extLst>
                <a:ext uri="{FF2B5EF4-FFF2-40B4-BE49-F238E27FC236}">
                  <a16:creationId xmlns:a16="http://schemas.microsoft.com/office/drawing/2014/main" id="{586FC60A-E6C7-9D4F-8916-7C92D13E6BE4}"/>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37" name="组合 16">
            <a:extLst>
              <a:ext uri="{FF2B5EF4-FFF2-40B4-BE49-F238E27FC236}">
                <a16:creationId xmlns:a16="http://schemas.microsoft.com/office/drawing/2014/main" id="{90ACD8EB-8EBD-094C-BCD6-A56358494558}"/>
              </a:ext>
            </a:extLst>
          </p:cNvPr>
          <p:cNvGrpSpPr/>
          <p:nvPr/>
        </p:nvGrpSpPr>
        <p:grpSpPr>
          <a:xfrm>
            <a:off x="5692817" y="5455749"/>
            <a:ext cx="928915" cy="781050"/>
            <a:chOff x="5631541" y="5358438"/>
            <a:chExt cx="928915" cy="781050"/>
          </a:xfrm>
        </p:grpSpPr>
        <p:sp>
          <p:nvSpPr>
            <p:cNvPr id="38" name="椭圆 8">
              <a:extLst>
                <a:ext uri="{FF2B5EF4-FFF2-40B4-BE49-F238E27FC236}">
                  <a16:creationId xmlns:a16="http://schemas.microsoft.com/office/drawing/2014/main" id="{A0B411F5-6EF7-FE44-901C-1F9626B07284}"/>
                </a:ext>
              </a:extLst>
            </p:cNvPr>
            <p:cNvSpPr/>
            <p:nvPr/>
          </p:nvSpPr>
          <p:spPr>
            <a:xfrm>
              <a:off x="5705473" y="5358438"/>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文本框 13">
              <a:extLst>
                <a:ext uri="{FF2B5EF4-FFF2-40B4-BE49-F238E27FC236}">
                  <a16:creationId xmlns:a16="http://schemas.microsoft.com/office/drawing/2014/main" id="{96C67E08-D53E-9D46-B0EC-DF743D12A5F5}"/>
                </a:ext>
              </a:extLst>
            </p:cNvPr>
            <p:cNvSpPr txBox="1"/>
            <p:nvPr/>
          </p:nvSpPr>
          <p:spPr>
            <a:xfrm>
              <a:off x="5631541" y="5487353"/>
              <a:ext cx="928915" cy="523220"/>
            </a:xfrm>
            <a:prstGeom prst="rect">
              <a:avLst/>
            </a:prstGeom>
            <a:noFill/>
          </p:spPr>
          <p:txBody>
            <a:bodyPr wrap="square" rtlCol="0">
              <a:spAutoFit/>
            </a:bodyPr>
            <a:lstStyle/>
            <a:p>
              <a:pPr algn="ctr"/>
              <a:r>
                <a:rPr lang="en-US" altLang="zh-CN" sz="2800" dirty="0">
                  <a:cs typeface="+mn-ea"/>
                  <a:sym typeface="+mn-lt"/>
                </a:rPr>
                <a:t>05</a:t>
              </a:r>
              <a:endParaRPr lang="zh-CN" altLang="en-US" sz="2800" dirty="0">
                <a:cs typeface="+mn-ea"/>
                <a:sym typeface="+mn-lt"/>
              </a:endParaRPr>
            </a:p>
          </p:txBody>
        </p:sp>
      </p:grpSp>
      <p:grpSp>
        <p:nvGrpSpPr>
          <p:cNvPr id="40" name="组合 26">
            <a:extLst>
              <a:ext uri="{FF2B5EF4-FFF2-40B4-BE49-F238E27FC236}">
                <a16:creationId xmlns:a16="http://schemas.microsoft.com/office/drawing/2014/main" id="{3171F9CB-AB6F-1F4A-9A17-5B2F63F9BF0D}"/>
              </a:ext>
            </a:extLst>
          </p:cNvPr>
          <p:cNvGrpSpPr/>
          <p:nvPr/>
        </p:nvGrpSpPr>
        <p:grpSpPr>
          <a:xfrm>
            <a:off x="6677150" y="5658237"/>
            <a:ext cx="4191000" cy="667524"/>
            <a:chOff x="6725021" y="718513"/>
            <a:chExt cx="4191000" cy="667524"/>
          </a:xfrm>
        </p:grpSpPr>
        <p:sp>
          <p:nvSpPr>
            <p:cNvPr id="41" name="文本框 27">
              <a:extLst>
                <a:ext uri="{FF2B5EF4-FFF2-40B4-BE49-F238E27FC236}">
                  <a16:creationId xmlns:a16="http://schemas.microsoft.com/office/drawing/2014/main" id="{3D53D2AD-829C-DC4D-AC32-EA73A9755889}"/>
                </a:ext>
              </a:extLst>
            </p:cNvPr>
            <p:cNvSpPr txBox="1"/>
            <p:nvPr/>
          </p:nvSpPr>
          <p:spPr>
            <a:xfrm>
              <a:off x="6725021" y="718513"/>
              <a:ext cx="3846412" cy="461665"/>
            </a:xfrm>
            <a:prstGeom prst="rect">
              <a:avLst/>
            </a:prstGeom>
            <a:noFill/>
          </p:spPr>
          <p:txBody>
            <a:bodyPr wrap="square" rtlCol="0">
              <a:spAutoFit/>
            </a:bodyPr>
            <a:lstStyle/>
            <a:p>
              <a:r>
                <a:rPr lang="zh-CN" altLang="en-US" sz="2400" spc="300" dirty="0">
                  <a:cs typeface="+mn-ea"/>
                  <a:sym typeface="+mn-lt"/>
                </a:rPr>
                <a:t>森林火灾发生的阶段</a:t>
              </a:r>
            </a:p>
          </p:txBody>
        </p:sp>
        <p:sp>
          <p:nvSpPr>
            <p:cNvPr id="42" name="文本框 28">
              <a:extLst>
                <a:ext uri="{FF2B5EF4-FFF2-40B4-BE49-F238E27FC236}">
                  <a16:creationId xmlns:a16="http://schemas.microsoft.com/office/drawing/2014/main" id="{4CF2A9C3-A8C7-E047-A332-39A128BE0C1B}"/>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spTree>
    <p:custDataLst>
      <p:tags r:id="rId1"/>
    </p:custDataLst>
    <p:extLst>
      <p:ext uri="{BB962C8B-B14F-4D97-AF65-F5344CB8AC3E}">
        <p14:creationId xmlns:p14="http://schemas.microsoft.com/office/powerpoint/2010/main" val="10374477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out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1+#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500" fill="hold"/>
                                        <p:tgtEl>
                                          <p:spTgt spid="21"/>
                                        </p:tgtEl>
                                        <p:attrNameLst>
                                          <p:attrName>ppt_x</p:attrName>
                                        </p:attrNameLst>
                                      </p:cBhvr>
                                      <p:tavLst>
                                        <p:tav tm="0">
                                          <p:val>
                                            <p:strVal val="1+#ppt_w/2"/>
                                          </p:val>
                                        </p:tav>
                                        <p:tav tm="100000">
                                          <p:val>
                                            <p:strVal val="#ppt_x"/>
                                          </p:val>
                                        </p:tav>
                                      </p:tavLst>
                                    </p:anim>
                                    <p:anim calcmode="lin" valueType="num">
                                      <p:cBhvr additive="base">
                                        <p:cTn id="45"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500" fill="hold"/>
                                        <p:tgtEl>
                                          <p:spTgt spid="24"/>
                                        </p:tgtEl>
                                        <p:attrNameLst>
                                          <p:attrName>ppt_x</p:attrName>
                                        </p:attrNameLst>
                                      </p:cBhvr>
                                      <p:tavLst>
                                        <p:tav tm="0">
                                          <p:val>
                                            <p:strVal val="1+#ppt_w/2"/>
                                          </p:val>
                                        </p:tav>
                                        <p:tav tm="100000">
                                          <p:val>
                                            <p:strVal val="#ppt_x"/>
                                          </p:val>
                                        </p:tav>
                                      </p:tavLst>
                                    </p:anim>
                                    <p:anim calcmode="lin" valueType="num">
                                      <p:cBhvr additive="base">
                                        <p:cTn id="58"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anim calcmode="lin" valueType="num">
                                      <p:cBhvr>
                                        <p:cTn id="63" dur="500" fill="hold"/>
                                        <p:tgtEl>
                                          <p:spTgt spid="30"/>
                                        </p:tgtEl>
                                        <p:attrNameLst>
                                          <p:attrName>ppt_w</p:attrName>
                                        </p:attrNameLst>
                                      </p:cBhvr>
                                      <p:tavLst>
                                        <p:tav tm="0">
                                          <p:val>
                                            <p:fltVal val="0"/>
                                          </p:val>
                                        </p:tav>
                                        <p:tav tm="100000">
                                          <p:val>
                                            <p:strVal val="#ppt_w"/>
                                          </p:val>
                                        </p:tav>
                                      </p:tavLst>
                                    </p:anim>
                                    <p:anim calcmode="lin" valueType="num">
                                      <p:cBhvr>
                                        <p:cTn id="64" dur="500" fill="hold"/>
                                        <p:tgtEl>
                                          <p:spTgt spid="30"/>
                                        </p:tgtEl>
                                        <p:attrNameLst>
                                          <p:attrName>ppt_h</p:attrName>
                                        </p:attrNameLst>
                                      </p:cBhvr>
                                      <p:tavLst>
                                        <p:tav tm="0">
                                          <p:val>
                                            <p:fltVal val="0"/>
                                          </p:val>
                                        </p:tav>
                                        <p:tav tm="100000">
                                          <p:val>
                                            <p:strVal val="#ppt_h"/>
                                          </p:val>
                                        </p:tav>
                                      </p:tavLst>
                                    </p:anim>
                                    <p:animEffect transition="in" filter="fade">
                                      <p:cBhvr>
                                        <p:cTn id="65" dur="500"/>
                                        <p:tgtEl>
                                          <p:spTgt spid="3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additive="base">
                                        <p:cTn id="70" dur="500" fill="hold"/>
                                        <p:tgtEl>
                                          <p:spTgt spid="33"/>
                                        </p:tgtEl>
                                        <p:attrNameLst>
                                          <p:attrName>ppt_x</p:attrName>
                                        </p:attrNameLst>
                                      </p:cBhvr>
                                      <p:tavLst>
                                        <p:tav tm="0">
                                          <p:val>
                                            <p:strVal val="1+#ppt_w/2"/>
                                          </p:val>
                                        </p:tav>
                                        <p:tav tm="100000">
                                          <p:val>
                                            <p:strVal val="#ppt_x"/>
                                          </p:val>
                                        </p:tav>
                                      </p:tavLst>
                                    </p:anim>
                                    <p:anim calcmode="lin" valueType="num">
                                      <p:cBhvr additive="base">
                                        <p:cTn id="7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37"/>
                                        </p:tgtEl>
                                        <p:attrNameLst>
                                          <p:attrName>style.visibility</p:attrName>
                                        </p:attrNameLst>
                                      </p:cBhvr>
                                      <p:to>
                                        <p:strVal val="visible"/>
                                      </p:to>
                                    </p:set>
                                    <p:anim calcmode="lin" valueType="num">
                                      <p:cBhvr>
                                        <p:cTn id="76" dur="500" fill="hold"/>
                                        <p:tgtEl>
                                          <p:spTgt spid="37"/>
                                        </p:tgtEl>
                                        <p:attrNameLst>
                                          <p:attrName>ppt_w</p:attrName>
                                        </p:attrNameLst>
                                      </p:cBhvr>
                                      <p:tavLst>
                                        <p:tav tm="0">
                                          <p:val>
                                            <p:fltVal val="0"/>
                                          </p:val>
                                        </p:tav>
                                        <p:tav tm="100000">
                                          <p:val>
                                            <p:strVal val="#ppt_w"/>
                                          </p:val>
                                        </p:tav>
                                      </p:tavLst>
                                    </p:anim>
                                    <p:anim calcmode="lin" valueType="num">
                                      <p:cBhvr>
                                        <p:cTn id="77" dur="500" fill="hold"/>
                                        <p:tgtEl>
                                          <p:spTgt spid="37"/>
                                        </p:tgtEl>
                                        <p:attrNameLst>
                                          <p:attrName>ppt_h</p:attrName>
                                        </p:attrNameLst>
                                      </p:cBhvr>
                                      <p:tavLst>
                                        <p:tav tm="0">
                                          <p:val>
                                            <p:fltVal val="0"/>
                                          </p:val>
                                        </p:tav>
                                        <p:tav tm="100000">
                                          <p:val>
                                            <p:strVal val="#ppt_h"/>
                                          </p:val>
                                        </p:tav>
                                      </p:tavLst>
                                    </p:anim>
                                    <p:animEffect transition="in" filter="fade">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2"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anim calcmode="lin" valueType="num">
                                      <p:cBhvr additive="base">
                                        <p:cTn id="83" dur="500" fill="hold"/>
                                        <p:tgtEl>
                                          <p:spTgt spid="40"/>
                                        </p:tgtEl>
                                        <p:attrNameLst>
                                          <p:attrName>ppt_x</p:attrName>
                                        </p:attrNameLst>
                                      </p:cBhvr>
                                      <p:tavLst>
                                        <p:tav tm="0">
                                          <p:val>
                                            <p:strVal val="1+#ppt_w/2"/>
                                          </p:val>
                                        </p:tav>
                                        <p:tav tm="100000">
                                          <p:val>
                                            <p:strVal val="#ppt_x"/>
                                          </p:val>
                                        </p:tav>
                                      </p:tavLst>
                                    </p:anim>
                                    <p:anim calcmode="lin" valueType="num">
                                      <p:cBhvr additive="base">
                                        <p:cTn id="84"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51ACFD56-E5D9-427E-9740-DA5852656F0F}"/>
              </a:ext>
            </a:extLst>
          </p:cNvPr>
          <p:cNvGrpSpPr/>
          <p:nvPr/>
        </p:nvGrpSpPr>
        <p:grpSpPr>
          <a:xfrm>
            <a:off x="4110260" y="1443260"/>
            <a:ext cx="4063922" cy="3971481"/>
            <a:chOff x="4110260" y="1443260"/>
            <a:chExt cx="4063922" cy="3971481"/>
          </a:xfrm>
        </p:grpSpPr>
        <p:sp>
          <p:nvSpPr>
            <p:cNvPr id="14"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5">
              <a:extLst>
                <a:ext uri="{FF2B5EF4-FFF2-40B4-BE49-F238E27FC236}">
                  <a16:creationId xmlns:a16="http://schemas.microsoft.com/office/drawing/2014/main" id="{8E42A8E3-2D45-4AB9-B1D0-8A0770BF747D}"/>
                </a:ext>
              </a:extLst>
            </p:cNvPr>
            <p:cNvSpPr txBox="1"/>
            <p:nvPr/>
          </p:nvSpPr>
          <p:spPr>
            <a:xfrm>
              <a:off x="4211782" y="2890391"/>
              <a:ext cx="3962400" cy="1077218"/>
            </a:xfrm>
            <a:prstGeom prst="rect">
              <a:avLst/>
            </a:prstGeom>
            <a:noFill/>
          </p:spPr>
          <p:txBody>
            <a:bodyPr wrap="square">
              <a:spAutoFit/>
            </a:bodyPr>
            <a:lstStyle/>
            <a:p>
              <a:pPr algn="ctr"/>
              <a:r>
                <a:rPr lang="zh-CN" altLang="en-US" sz="3200" spc="300" dirty="0">
                  <a:cs typeface="+mn-ea"/>
                  <a:sym typeface="+mn-lt"/>
                </a:rPr>
                <a:t>哪些物质会燃烧，有什么共同点？</a:t>
              </a:r>
            </a:p>
          </p:txBody>
        </p:sp>
      </p:grpSp>
      <p:sp>
        <p:nvSpPr>
          <p:cNvPr id="2" name="文本框 1"/>
          <p:cNvSpPr txBox="1"/>
          <p:nvPr/>
        </p:nvSpPr>
        <p:spPr>
          <a:xfrm>
            <a:off x="1819922" y="745724"/>
            <a:ext cx="2867488" cy="369332"/>
          </a:xfrm>
          <a:prstGeom prst="rect">
            <a:avLst/>
          </a:prstGeom>
          <a:noFill/>
        </p:spPr>
        <p:txBody>
          <a:bodyPr wrap="square" rtlCol="0">
            <a:spAutoFit/>
          </a:bodyPr>
          <a:lstStyle/>
          <a:p>
            <a:r>
              <a:rPr lang="en-US" altLang="zh-CN" dirty="0">
                <a:solidFill>
                  <a:srgbClr val="FFFFFF"/>
                </a:solidFill>
              </a:rPr>
              <a:t>https://www.ypppt.com/</a:t>
            </a:r>
            <a:endParaRPr lang="zh-CN" altLang="en-US" dirty="0">
              <a:solidFill>
                <a:srgbClr val="FFFFFF"/>
              </a:solidFill>
            </a:endParaRPr>
          </a:p>
        </p:txBody>
      </p:sp>
    </p:spTree>
    <p:custDataLst>
      <p:tags r:id="rId1"/>
    </p:custDataLst>
    <p:extLst>
      <p:ext uri="{BB962C8B-B14F-4D97-AF65-F5344CB8AC3E}">
        <p14:creationId xmlns:p14="http://schemas.microsoft.com/office/powerpoint/2010/main" val="26872289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61D68AC2-6217-4618-9FF2-2840E7AAD8C2}"/>
              </a:ext>
            </a:extLst>
          </p:cNvPr>
          <p:cNvSpPr txBox="1"/>
          <p:nvPr/>
        </p:nvSpPr>
        <p:spPr>
          <a:xfrm>
            <a:off x="1273463" y="2771043"/>
            <a:ext cx="4038600" cy="923330"/>
          </a:xfrm>
          <a:prstGeom prst="rect">
            <a:avLst/>
          </a:prstGeom>
          <a:noFill/>
        </p:spPr>
        <p:txBody>
          <a:bodyPr wrap="square" rtlCol="0">
            <a:spAutoFit/>
          </a:bodyPr>
          <a:lstStyle/>
          <a:p>
            <a:r>
              <a:rPr lang="zh-CN" altLang="en-US" spc="400" dirty="0">
                <a:cs typeface="+mn-ea"/>
                <a:sym typeface="+mn-lt"/>
              </a:rPr>
              <a:t>凡是能与空气中的氧或其他氧化剂起燃烧化学反应的物质称为可燃物。</a:t>
            </a:r>
          </a:p>
        </p:txBody>
      </p:sp>
      <p:pic>
        <p:nvPicPr>
          <p:cNvPr id="19" name="Picture 18" descr="安全顾问】消防科普：物质燃烧的条件_艾克斯博特_新浪博客">
            <a:extLst>
              <a:ext uri="{FF2B5EF4-FFF2-40B4-BE49-F238E27FC236}">
                <a16:creationId xmlns:a16="http://schemas.microsoft.com/office/drawing/2014/main" id="{558C9453-7F9A-2E46-A55B-7C458D1852CE}"/>
              </a:ext>
            </a:extLst>
          </p:cNvPr>
          <p:cNvPicPr>
            <a:picLocks noChangeAspect="1"/>
          </p:cNvPicPr>
          <p:nvPr/>
        </p:nvPicPr>
        <p:blipFill rotWithShape="1">
          <a:blip r:embed="rId3">
            <a:extLst>
              <a:ext uri="{28A0092B-C50C-407E-A947-70E740481C1C}">
                <a14:useLocalDpi xmlns:a14="http://schemas.microsoft.com/office/drawing/2010/main" val="0"/>
              </a:ext>
            </a:extLst>
          </a:blip>
          <a:srcRect b="10883"/>
          <a:stretch/>
        </p:blipFill>
        <p:spPr bwMode="auto">
          <a:xfrm>
            <a:off x="5793076" y="2307239"/>
            <a:ext cx="5658572" cy="3330587"/>
          </a:xfrm>
          <a:prstGeom prst="rect">
            <a:avLst/>
          </a:prstGeom>
          <a:noFill/>
          <a:ln>
            <a:noFill/>
          </a:ln>
          <a:extLst>
            <a:ext uri="{53640926-AAD7-44D8-BBD7-CCE9431645EC}">
              <a14:shadowObscured xmlns:a14="http://schemas.microsoft.com/office/drawing/2010/main"/>
            </a:ext>
          </a:extLst>
        </p:spPr>
      </p:pic>
      <p:sp>
        <p:nvSpPr>
          <p:cNvPr id="20" name="文本框 7">
            <a:extLst>
              <a:ext uri="{FF2B5EF4-FFF2-40B4-BE49-F238E27FC236}">
                <a16:creationId xmlns:a16="http://schemas.microsoft.com/office/drawing/2014/main" id="{2D308431-4B65-2A4F-98C2-ABED09ECEEE2}"/>
              </a:ext>
            </a:extLst>
          </p:cNvPr>
          <p:cNvSpPr txBox="1"/>
          <p:nvPr/>
        </p:nvSpPr>
        <p:spPr>
          <a:xfrm>
            <a:off x="1273463" y="3972533"/>
            <a:ext cx="4038600" cy="646331"/>
          </a:xfrm>
          <a:prstGeom prst="rect">
            <a:avLst/>
          </a:prstGeom>
          <a:noFill/>
        </p:spPr>
        <p:txBody>
          <a:bodyPr wrap="square" rtlCol="0">
            <a:spAutoFit/>
          </a:bodyPr>
          <a:lstStyle/>
          <a:p>
            <a:r>
              <a:rPr lang="zh-CN" altLang="en-US" spc="400" dirty="0">
                <a:cs typeface="+mn-ea"/>
                <a:sym typeface="+mn-lt"/>
              </a:rPr>
              <a:t>可燃物都具有三大要素：可燃物，助燃物，热量 </a:t>
            </a:r>
          </a:p>
        </p:txBody>
      </p:sp>
      <p:grpSp>
        <p:nvGrpSpPr>
          <p:cNvPr id="21" name="组合 1">
            <a:extLst>
              <a:ext uri="{FF2B5EF4-FFF2-40B4-BE49-F238E27FC236}">
                <a16:creationId xmlns:a16="http://schemas.microsoft.com/office/drawing/2014/main" id="{F70DAD00-7982-F544-BA49-45A151956DBF}"/>
              </a:ext>
            </a:extLst>
          </p:cNvPr>
          <p:cNvGrpSpPr/>
          <p:nvPr/>
        </p:nvGrpSpPr>
        <p:grpSpPr>
          <a:xfrm>
            <a:off x="2551545" y="1047495"/>
            <a:ext cx="7673109" cy="1938992"/>
            <a:chOff x="736600" y="1991896"/>
            <a:chExt cx="3515773" cy="1938992"/>
          </a:xfrm>
        </p:grpSpPr>
        <p:sp>
          <p:nvSpPr>
            <p:cNvPr id="22" name="文本框 2">
              <a:extLst>
                <a:ext uri="{FF2B5EF4-FFF2-40B4-BE49-F238E27FC236}">
                  <a16:creationId xmlns:a16="http://schemas.microsoft.com/office/drawing/2014/main" id="{42F8D34B-6147-3C4C-8609-6F7557EC63E6}"/>
                </a:ext>
              </a:extLst>
            </p:cNvPr>
            <p:cNvSpPr txBox="1"/>
            <p:nvPr/>
          </p:nvSpPr>
          <p:spPr>
            <a:xfrm>
              <a:off x="736600" y="1991896"/>
              <a:ext cx="3515773" cy="1938992"/>
            </a:xfrm>
            <a:prstGeom prst="rect">
              <a:avLst/>
            </a:prstGeom>
            <a:noFill/>
          </p:spPr>
          <p:txBody>
            <a:bodyPr wrap="square" rtlCol="0">
              <a:spAutoFit/>
            </a:bodyPr>
            <a:lstStyle/>
            <a:p>
              <a:pPr algn="ctr"/>
              <a:r>
                <a:rPr lang="zh-CN" altLang="en-US" sz="4000" dirty="0">
                  <a:cs typeface="+mn-ea"/>
                  <a:sym typeface="+mn-lt"/>
                </a:rPr>
                <a:t>哪些物质会燃烧，有什么共同点？</a:t>
              </a:r>
            </a:p>
            <a:p>
              <a:pPr algn="ctr"/>
              <a:endParaRPr lang="zh-CN" altLang="en-US" sz="4000" dirty="0">
                <a:cs typeface="+mn-ea"/>
                <a:sym typeface="+mn-lt"/>
              </a:endParaRPr>
            </a:p>
          </p:txBody>
        </p:sp>
        <p:sp>
          <p:nvSpPr>
            <p:cNvPr id="23" name="文本框 3">
              <a:extLst>
                <a:ext uri="{FF2B5EF4-FFF2-40B4-BE49-F238E27FC236}">
                  <a16:creationId xmlns:a16="http://schemas.microsoft.com/office/drawing/2014/main" id="{61A7C001-6DF4-0E48-8DC6-BD3CF102ABD4}"/>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24" name="矩形 4">
            <a:extLst>
              <a:ext uri="{FF2B5EF4-FFF2-40B4-BE49-F238E27FC236}">
                <a16:creationId xmlns:a16="http://schemas.microsoft.com/office/drawing/2014/main" id="{D53E2C95-B0D8-8146-840C-B61CA1C4D97D}"/>
              </a:ext>
            </a:extLst>
          </p:cNvPr>
          <p:cNvSpPr/>
          <p:nvPr/>
        </p:nvSpPr>
        <p:spPr>
          <a:xfrm>
            <a:off x="5029200" y="506424"/>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ustDataLst>
      <p:tags r:id="rId1"/>
    </p:custDataLst>
    <p:extLst>
      <p:ext uri="{BB962C8B-B14F-4D97-AF65-F5344CB8AC3E}">
        <p14:creationId xmlns:p14="http://schemas.microsoft.com/office/powerpoint/2010/main" val="21299640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randombar(horizontal)">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1F33036D-0C8B-4AF9-957A-8FAFE4F85C7D}"/>
              </a:ext>
            </a:extLst>
          </p:cNvPr>
          <p:cNvGrpSpPr/>
          <p:nvPr/>
        </p:nvGrpSpPr>
        <p:grpSpPr>
          <a:xfrm>
            <a:off x="776514" y="1785257"/>
            <a:ext cx="10638972" cy="3904343"/>
            <a:chOff x="776514" y="1785257"/>
            <a:chExt cx="10638972" cy="3904343"/>
          </a:xfrm>
        </p:grpSpPr>
        <p:sp>
          <p:nvSpPr>
            <p:cNvPr id="2" name="矩形: 圆角 1">
              <a:extLst>
                <a:ext uri="{FF2B5EF4-FFF2-40B4-BE49-F238E27FC236}">
                  <a16:creationId xmlns:a16="http://schemas.microsoft.com/office/drawing/2014/main" id="{959A82C0-0BA4-4D12-898B-673A71F109A1}"/>
                </a:ext>
              </a:extLst>
            </p:cNvPr>
            <p:cNvSpPr/>
            <p:nvPr/>
          </p:nvSpPr>
          <p:spPr>
            <a:xfrm>
              <a:off x="776515" y="1785257"/>
              <a:ext cx="10638971" cy="3904343"/>
            </a:xfrm>
            <a:prstGeom prst="roundRect">
              <a:avLst>
                <a:gd name="adj" fmla="val 4028"/>
              </a:avLst>
            </a:prstGeom>
            <a:solidFill>
              <a:schemeClr val="bg1"/>
            </a:solidFill>
            <a:ln>
              <a:noFill/>
            </a:ln>
            <a:effectLst>
              <a:outerShdw blurRad="3683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圆角 2">
              <a:extLst>
                <a:ext uri="{FF2B5EF4-FFF2-40B4-BE49-F238E27FC236}">
                  <a16:creationId xmlns:a16="http://schemas.microsoft.com/office/drawing/2014/main" id="{61F30336-F895-453A-8D62-2A5023FB3678}"/>
                </a:ext>
              </a:extLst>
            </p:cNvPr>
            <p:cNvSpPr/>
            <p:nvPr/>
          </p:nvSpPr>
          <p:spPr>
            <a:xfrm>
              <a:off x="776514" y="2191657"/>
              <a:ext cx="159657" cy="3091543"/>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 name="组合 6">
            <a:extLst>
              <a:ext uri="{FF2B5EF4-FFF2-40B4-BE49-F238E27FC236}">
                <a16:creationId xmlns:a16="http://schemas.microsoft.com/office/drawing/2014/main" id="{3CE8C235-1F48-4AC6-9A69-71FB0B4B52CD}"/>
              </a:ext>
            </a:extLst>
          </p:cNvPr>
          <p:cNvGrpSpPr/>
          <p:nvPr/>
        </p:nvGrpSpPr>
        <p:grpSpPr>
          <a:xfrm>
            <a:off x="1529438" y="2385786"/>
            <a:ext cx="4926780" cy="784830"/>
            <a:chOff x="736600" y="2095500"/>
            <a:chExt cx="3378200" cy="784830"/>
          </a:xfrm>
        </p:grpSpPr>
        <p:sp>
          <p:nvSpPr>
            <p:cNvPr id="8" name="文本框 7">
              <a:extLst>
                <a:ext uri="{FF2B5EF4-FFF2-40B4-BE49-F238E27FC236}">
                  <a16:creationId xmlns:a16="http://schemas.microsoft.com/office/drawing/2014/main" id="{078A507D-2CE1-4048-9F31-B781D6F3445D}"/>
                </a:ext>
              </a:extLst>
            </p:cNvPr>
            <p:cNvSpPr txBox="1"/>
            <p:nvPr/>
          </p:nvSpPr>
          <p:spPr>
            <a:xfrm>
              <a:off x="736600" y="2095500"/>
              <a:ext cx="3378200" cy="523220"/>
            </a:xfrm>
            <a:prstGeom prst="rect">
              <a:avLst/>
            </a:prstGeom>
            <a:noFill/>
          </p:spPr>
          <p:txBody>
            <a:bodyPr wrap="square" rtlCol="0">
              <a:spAutoFit/>
            </a:bodyPr>
            <a:lstStyle/>
            <a:p>
              <a:r>
                <a:rPr lang="en-US" altLang="zh-CN" sz="2800" dirty="0">
                  <a:cs typeface="+mn-ea"/>
                  <a:sym typeface="+mn-lt"/>
                </a:rPr>
                <a:t>Q</a:t>
              </a:r>
              <a:r>
                <a:rPr lang="zh-CN" altLang="en-US" sz="2800" dirty="0">
                  <a:cs typeface="+mn-ea"/>
                  <a:sym typeface="+mn-lt"/>
                </a:rPr>
                <a:t>：恒星放热算燃烧吗？</a:t>
              </a:r>
            </a:p>
          </p:txBody>
        </p:sp>
        <p:sp>
          <p:nvSpPr>
            <p:cNvPr id="9" name="文本框 8">
              <a:extLst>
                <a:ext uri="{FF2B5EF4-FFF2-40B4-BE49-F238E27FC236}">
                  <a16:creationId xmlns:a16="http://schemas.microsoft.com/office/drawing/2014/main" id="{8EDF779E-4CB7-4575-B73F-1BC1C9671BEA}"/>
                </a:ext>
              </a:extLst>
            </p:cNvPr>
            <p:cNvSpPr txBox="1"/>
            <p:nvPr/>
          </p:nvSpPr>
          <p:spPr>
            <a:xfrm>
              <a:off x="736600" y="2618720"/>
              <a:ext cx="3263900" cy="261610"/>
            </a:xfrm>
            <a:prstGeom prst="rect">
              <a:avLst/>
            </a:prstGeom>
            <a:noFill/>
          </p:spPr>
          <p:txBody>
            <a:bodyPr wrap="square">
              <a:spAutoFit/>
            </a:bodyPr>
            <a:lstStyle/>
            <a:p>
              <a:endParaRPr lang="zh-CN" altLang="en-US" sz="1100" dirty="0">
                <a:cs typeface="+mn-ea"/>
                <a:sym typeface="+mn-lt"/>
              </a:endParaRPr>
            </a:p>
          </p:txBody>
        </p:sp>
      </p:grpSp>
      <p:sp>
        <p:nvSpPr>
          <p:cNvPr id="10" name="文本框 9">
            <a:extLst>
              <a:ext uri="{FF2B5EF4-FFF2-40B4-BE49-F238E27FC236}">
                <a16:creationId xmlns:a16="http://schemas.microsoft.com/office/drawing/2014/main" id="{725E02A1-F66B-43B7-B395-364FFBD7062A}"/>
              </a:ext>
            </a:extLst>
          </p:cNvPr>
          <p:cNvSpPr txBox="1"/>
          <p:nvPr/>
        </p:nvSpPr>
        <p:spPr>
          <a:xfrm>
            <a:off x="1529438" y="3422140"/>
            <a:ext cx="4038600" cy="707886"/>
          </a:xfrm>
          <a:prstGeom prst="rect">
            <a:avLst/>
          </a:prstGeom>
          <a:noFill/>
        </p:spPr>
        <p:txBody>
          <a:bodyPr wrap="square" rtlCol="0">
            <a:spAutoFit/>
          </a:bodyPr>
          <a:lstStyle/>
          <a:p>
            <a:r>
              <a:rPr lang="zh-CN" altLang="en-US" sz="2000" spc="400" dirty="0">
                <a:cs typeface="+mn-ea"/>
                <a:sym typeface="+mn-lt"/>
              </a:rPr>
              <a:t>不算。太阳内部是核聚变发热，属于辐射放热。 </a:t>
            </a:r>
          </a:p>
        </p:txBody>
      </p:sp>
      <p:sp>
        <p:nvSpPr>
          <p:cNvPr id="5" name="AutoShape 2">
            <a:extLst>
              <a:ext uri="{FF2B5EF4-FFF2-40B4-BE49-F238E27FC236}">
                <a16:creationId xmlns:a16="http://schemas.microsoft.com/office/drawing/2014/main" id="{29CB0F3F-C0B0-3B49-A19F-B916E75842F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pic>
        <p:nvPicPr>
          <p:cNvPr id="14" name="Picture 13" descr="A picture containing star, outdoor object, orange, dark&#10;&#10;Description automatically generated">
            <a:extLst>
              <a:ext uri="{FF2B5EF4-FFF2-40B4-BE49-F238E27FC236}">
                <a16:creationId xmlns:a16="http://schemas.microsoft.com/office/drawing/2014/main" id="{3FA5C688-ED9C-3B48-B8CF-F16D266C85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300" y="2486478"/>
            <a:ext cx="2667000" cy="2501900"/>
          </a:xfrm>
          <a:prstGeom prst="rect">
            <a:avLst/>
          </a:prstGeom>
        </p:spPr>
      </p:pic>
    </p:spTree>
    <p:custDataLst>
      <p:tags r:id="rId1"/>
    </p:custDataLst>
    <p:extLst>
      <p:ext uri="{BB962C8B-B14F-4D97-AF65-F5344CB8AC3E}">
        <p14:creationId xmlns:p14="http://schemas.microsoft.com/office/powerpoint/2010/main" val="2571729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5" name="组合 14">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17"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 name="文本框 5">
              <a:extLst>
                <a:ext uri="{FF2B5EF4-FFF2-40B4-BE49-F238E27FC236}">
                  <a16:creationId xmlns:a16="http://schemas.microsoft.com/office/drawing/2014/main" id="{8E42A8E3-2D45-4AB9-B1D0-8A0770BF747D}"/>
                </a:ext>
              </a:extLst>
            </p:cNvPr>
            <p:cNvSpPr txBox="1"/>
            <p:nvPr/>
          </p:nvSpPr>
          <p:spPr>
            <a:xfrm>
              <a:off x="3048000" y="3136612"/>
              <a:ext cx="6096000" cy="584775"/>
            </a:xfrm>
            <a:prstGeom prst="rect">
              <a:avLst/>
            </a:prstGeom>
            <a:noFill/>
          </p:spPr>
          <p:txBody>
            <a:bodyPr wrap="square">
              <a:spAutoFit/>
            </a:bodyPr>
            <a:lstStyle/>
            <a:p>
              <a:pPr lvl="0" algn="ctr">
                <a:defRPr/>
              </a:pPr>
              <a:r>
                <a:rPr lang="zh-CN" altLang="en-US" sz="3200" spc="300" dirty="0">
                  <a:solidFill>
                    <a:prstClr val="black"/>
                  </a:solidFill>
                  <a:cs typeface="+mn-ea"/>
                  <a:sym typeface="+mn-lt"/>
                </a:rPr>
                <a:t>为什么氧气助燃</a:t>
              </a:r>
            </a:p>
          </p:txBody>
        </p:sp>
        <p:sp>
          <p:nvSpPr>
            <p:cNvPr id="19"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6781890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CC60241-B4C7-4568-9001-D912489C3D37}"/>
              </a:ext>
            </a:extLst>
          </p:cNvPr>
          <p:cNvSpPr/>
          <p:nvPr/>
        </p:nvSpPr>
        <p:spPr>
          <a:xfrm>
            <a:off x="0" y="2144486"/>
            <a:ext cx="4064000" cy="25690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a:extLst>
              <a:ext uri="{FF2B5EF4-FFF2-40B4-BE49-F238E27FC236}">
                <a16:creationId xmlns:a16="http://schemas.microsoft.com/office/drawing/2014/main" id="{3E0C0114-AED9-47D0-821C-CCCF888042F9}"/>
              </a:ext>
            </a:extLst>
          </p:cNvPr>
          <p:cNvGrpSpPr/>
          <p:nvPr/>
        </p:nvGrpSpPr>
        <p:grpSpPr>
          <a:xfrm>
            <a:off x="5929745" y="1985204"/>
            <a:ext cx="4020457" cy="769294"/>
            <a:chOff x="736599" y="2095500"/>
            <a:chExt cx="4020457" cy="769294"/>
          </a:xfrm>
        </p:grpSpPr>
        <p:sp>
          <p:nvSpPr>
            <p:cNvPr id="7" name="文本框 6">
              <a:extLst>
                <a:ext uri="{FF2B5EF4-FFF2-40B4-BE49-F238E27FC236}">
                  <a16:creationId xmlns:a16="http://schemas.microsoft.com/office/drawing/2014/main" id="{974E4C92-07FB-4D06-AF0C-670CC127DA16}"/>
                </a:ext>
              </a:extLst>
            </p:cNvPr>
            <p:cNvSpPr txBox="1"/>
            <p:nvPr/>
          </p:nvSpPr>
          <p:spPr>
            <a:xfrm>
              <a:off x="736599" y="2095500"/>
              <a:ext cx="4020457" cy="523220"/>
            </a:xfrm>
            <a:prstGeom prst="rect">
              <a:avLst/>
            </a:prstGeom>
            <a:noFill/>
          </p:spPr>
          <p:txBody>
            <a:bodyPr wrap="square" rtlCol="0">
              <a:spAutoFit/>
            </a:bodyPr>
            <a:lstStyle/>
            <a:p>
              <a:r>
                <a:rPr lang="zh-CN" altLang="en-US" sz="2800" dirty="0">
                  <a:cs typeface="+mn-ea"/>
                  <a:sym typeface="+mn-lt"/>
                </a:rPr>
                <a:t>为什么氧气助燃</a:t>
              </a:r>
              <a:endParaRPr lang="en-US" altLang="zh-CN" sz="2800" dirty="0">
                <a:cs typeface="+mn-ea"/>
                <a:sym typeface="+mn-lt"/>
              </a:endParaRPr>
            </a:p>
          </p:txBody>
        </p:sp>
        <p:sp>
          <p:nvSpPr>
            <p:cNvPr id="8" name="文本框 7">
              <a:extLst>
                <a:ext uri="{FF2B5EF4-FFF2-40B4-BE49-F238E27FC236}">
                  <a16:creationId xmlns:a16="http://schemas.microsoft.com/office/drawing/2014/main" id="{1623566C-2AC6-4735-95E8-D36E8A3C6643}"/>
                </a:ext>
              </a:extLst>
            </p:cNvPr>
            <p:cNvSpPr txBox="1"/>
            <p:nvPr/>
          </p:nvSpPr>
          <p:spPr>
            <a:xfrm>
              <a:off x="782221" y="2603184"/>
              <a:ext cx="3263900" cy="261610"/>
            </a:xfrm>
            <a:prstGeom prst="rect">
              <a:avLst/>
            </a:prstGeom>
            <a:noFill/>
          </p:spPr>
          <p:txBody>
            <a:bodyPr wrap="square">
              <a:spAutoFit/>
            </a:bodyPr>
            <a:lstStyle/>
            <a:p>
              <a:endParaRPr lang="zh-CN" altLang="en-US" sz="1100" dirty="0">
                <a:cs typeface="+mn-ea"/>
                <a:sym typeface="+mn-lt"/>
              </a:endParaRPr>
            </a:p>
          </p:txBody>
        </p:sp>
      </p:grpSp>
      <p:sp>
        <p:nvSpPr>
          <p:cNvPr id="9" name="文本框 8">
            <a:extLst>
              <a:ext uri="{FF2B5EF4-FFF2-40B4-BE49-F238E27FC236}">
                <a16:creationId xmlns:a16="http://schemas.microsoft.com/office/drawing/2014/main" id="{7BD4B515-B658-42F0-8070-1503549C4878}"/>
              </a:ext>
            </a:extLst>
          </p:cNvPr>
          <p:cNvSpPr txBox="1"/>
          <p:nvPr/>
        </p:nvSpPr>
        <p:spPr>
          <a:xfrm>
            <a:off x="5929745" y="3117950"/>
            <a:ext cx="5210629" cy="923330"/>
          </a:xfrm>
          <a:prstGeom prst="rect">
            <a:avLst/>
          </a:prstGeom>
          <a:noFill/>
        </p:spPr>
        <p:txBody>
          <a:bodyPr wrap="square" rtlCol="0">
            <a:spAutoFit/>
          </a:bodyPr>
          <a:lstStyle/>
          <a:p>
            <a:r>
              <a:rPr lang="zh-CN" altLang="en-US" spc="400" dirty="0">
                <a:cs typeface="+mn-ea"/>
                <a:sym typeface="+mn-lt"/>
              </a:rPr>
              <a:t>氧气的助燃性其实是氧化性的一种体现，因为燃烧实际上就是一种发光、放热的氧化还原反应。</a:t>
            </a:r>
          </a:p>
        </p:txBody>
      </p:sp>
      <p:pic>
        <p:nvPicPr>
          <p:cNvPr id="2050" name="Picture 2" descr="助燃性—搜狗百科">
            <a:extLst>
              <a:ext uri="{FF2B5EF4-FFF2-40B4-BE49-F238E27FC236}">
                <a16:creationId xmlns:a16="http://schemas.microsoft.com/office/drawing/2014/main" id="{95E81C0B-2701-8142-A7BE-1E0200C46CA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451" r="9201"/>
          <a:stretch/>
        </p:blipFill>
        <p:spPr bwMode="auto">
          <a:xfrm>
            <a:off x="1637558" y="1484739"/>
            <a:ext cx="3626874" cy="388852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673991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77378-920E-4983-A465-029D4C8CE30C}"/>
              </a:ext>
            </a:extLst>
          </p:cNvPr>
          <p:cNvGrpSpPr/>
          <p:nvPr/>
        </p:nvGrpSpPr>
        <p:grpSpPr>
          <a:xfrm>
            <a:off x="3175001" y="1298978"/>
            <a:ext cx="5841999" cy="1046440"/>
            <a:chOff x="748202" y="1991896"/>
            <a:chExt cx="3515773" cy="1046440"/>
          </a:xfrm>
        </p:grpSpPr>
        <p:sp>
          <p:nvSpPr>
            <p:cNvPr id="3" name="文本框 2">
              <a:extLst>
                <a:ext uri="{FF2B5EF4-FFF2-40B4-BE49-F238E27FC236}">
                  <a16:creationId xmlns:a16="http://schemas.microsoft.com/office/drawing/2014/main" id="{C1E316D1-55EE-40ED-AD68-2FC600B3B8F2}"/>
                </a:ext>
              </a:extLst>
            </p:cNvPr>
            <p:cNvSpPr txBox="1"/>
            <p:nvPr/>
          </p:nvSpPr>
          <p:spPr>
            <a:xfrm>
              <a:off x="748202" y="1991896"/>
              <a:ext cx="3515773" cy="707886"/>
            </a:xfrm>
            <a:prstGeom prst="rect">
              <a:avLst/>
            </a:prstGeom>
            <a:noFill/>
          </p:spPr>
          <p:txBody>
            <a:bodyPr wrap="square" rtlCol="0">
              <a:spAutoFit/>
            </a:bodyPr>
            <a:lstStyle/>
            <a:p>
              <a:pPr algn="ctr"/>
              <a:r>
                <a:rPr lang="zh-CN" altLang="en-US" sz="4000" dirty="0">
                  <a:cs typeface="+mn-ea"/>
                  <a:sym typeface="+mn-lt"/>
                </a:rPr>
                <a:t>解释</a:t>
              </a:r>
            </a:p>
          </p:txBody>
        </p:sp>
        <p:sp>
          <p:nvSpPr>
            <p:cNvPr id="4" name="文本框 3">
              <a:extLst>
                <a:ext uri="{FF2B5EF4-FFF2-40B4-BE49-F238E27FC236}">
                  <a16:creationId xmlns:a16="http://schemas.microsoft.com/office/drawing/2014/main" id="{E8E65261-BC81-4D4D-B503-DA946960DFAF}"/>
                </a:ext>
              </a:extLst>
            </p:cNvPr>
            <p:cNvSpPr txBox="1"/>
            <p:nvPr/>
          </p:nvSpPr>
          <p:spPr>
            <a:xfrm>
              <a:off x="793749" y="2699782"/>
              <a:ext cx="3458623" cy="338554"/>
            </a:xfrm>
            <a:prstGeom prst="rect">
              <a:avLst/>
            </a:prstGeom>
            <a:noFill/>
          </p:spPr>
          <p:txBody>
            <a:bodyPr wrap="square">
              <a:spAutoFit/>
            </a:bodyPr>
            <a:lstStyle/>
            <a:p>
              <a:pPr algn="ctr"/>
              <a:endParaRPr lang="zh-CN" altLang="en-US" sz="1600" dirty="0">
                <a:cs typeface="+mn-ea"/>
                <a:sym typeface="+mn-lt"/>
              </a:endParaRPr>
            </a:p>
          </p:txBody>
        </p:sp>
      </p:grpSp>
      <p:sp>
        <p:nvSpPr>
          <p:cNvPr id="5" name="矩形 4">
            <a:extLst>
              <a:ext uri="{FF2B5EF4-FFF2-40B4-BE49-F238E27FC236}">
                <a16:creationId xmlns:a16="http://schemas.microsoft.com/office/drawing/2014/main" id="{870061FB-C59E-44B5-9AF3-46764CEF7EE7}"/>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a:extLst>
              <a:ext uri="{FF2B5EF4-FFF2-40B4-BE49-F238E27FC236}">
                <a16:creationId xmlns:a16="http://schemas.microsoft.com/office/drawing/2014/main" id="{579F8E78-A14B-466F-9798-303464B17FE5}"/>
              </a:ext>
            </a:extLst>
          </p:cNvPr>
          <p:cNvSpPr/>
          <p:nvPr/>
        </p:nvSpPr>
        <p:spPr>
          <a:xfrm>
            <a:off x="1635826"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cs typeface="+mn-ea"/>
                <a:sym typeface="+mn-lt"/>
              </a:rPr>
              <a:t>离子键</a:t>
            </a:r>
          </a:p>
        </p:txBody>
      </p:sp>
      <p:sp>
        <p:nvSpPr>
          <p:cNvPr id="7" name="椭圆 6">
            <a:extLst>
              <a:ext uri="{FF2B5EF4-FFF2-40B4-BE49-F238E27FC236}">
                <a16:creationId xmlns:a16="http://schemas.microsoft.com/office/drawing/2014/main" id="{9BB3EF88-3A6A-45A9-800C-C9CA6C9A9376}"/>
              </a:ext>
            </a:extLst>
          </p:cNvPr>
          <p:cNvSpPr/>
          <p:nvPr/>
        </p:nvSpPr>
        <p:spPr>
          <a:xfrm>
            <a:off x="4100835"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cs typeface="+mn-ea"/>
                <a:sym typeface="+mn-lt"/>
              </a:rPr>
              <a:t>共价键</a:t>
            </a:r>
          </a:p>
        </p:txBody>
      </p:sp>
      <p:sp>
        <p:nvSpPr>
          <p:cNvPr id="8" name="椭圆 7">
            <a:extLst>
              <a:ext uri="{FF2B5EF4-FFF2-40B4-BE49-F238E27FC236}">
                <a16:creationId xmlns:a16="http://schemas.microsoft.com/office/drawing/2014/main" id="{026822C4-91F8-4710-B7DB-87EA9F1F0238}"/>
              </a:ext>
            </a:extLst>
          </p:cNvPr>
          <p:cNvSpPr/>
          <p:nvPr/>
        </p:nvSpPr>
        <p:spPr>
          <a:xfrm>
            <a:off x="6565844"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cs typeface="+mn-ea"/>
                <a:sym typeface="+mn-lt"/>
              </a:rPr>
              <a:t>化学键</a:t>
            </a:r>
          </a:p>
        </p:txBody>
      </p:sp>
      <p:sp>
        <p:nvSpPr>
          <p:cNvPr id="9" name="椭圆 8">
            <a:extLst>
              <a:ext uri="{FF2B5EF4-FFF2-40B4-BE49-F238E27FC236}">
                <a16:creationId xmlns:a16="http://schemas.microsoft.com/office/drawing/2014/main" id="{6017FD32-2607-437B-8F5C-75000293D02D}"/>
              </a:ext>
            </a:extLst>
          </p:cNvPr>
          <p:cNvSpPr/>
          <p:nvPr/>
        </p:nvSpPr>
        <p:spPr>
          <a:xfrm>
            <a:off x="9030854"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阳离子</a:t>
            </a:r>
            <a:r>
              <a:rPr lang="en-CN" dirty="0"/>
              <a:t> </a:t>
            </a:r>
            <a:endParaRPr lang="zh-CN" altLang="en-US" dirty="0">
              <a:solidFill>
                <a:schemeClr val="tx1"/>
              </a:solidFill>
              <a:cs typeface="+mn-ea"/>
              <a:sym typeface="+mn-lt"/>
            </a:endParaRPr>
          </a:p>
        </p:txBody>
      </p:sp>
      <p:sp>
        <p:nvSpPr>
          <p:cNvPr id="23" name="文本框 22">
            <a:extLst>
              <a:ext uri="{FF2B5EF4-FFF2-40B4-BE49-F238E27FC236}">
                <a16:creationId xmlns:a16="http://schemas.microsoft.com/office/drawing/2014/main" id="{70A8E6AA-CEDB-4151-8291-7801EFF56537}"/>
              </a:ext>
            </a:extLst>
          </p:cNvPr>
          <p:cNvSpPr txBox="1"/>
          <p:nvPr/>
        </p:nvSpPr>
        <p:spPr>
          <a:xfrm>
            <a:off x="1419455" y="4451889"/>
            <a:ext cx="1864360" cy="1200329"/>
          </a:xfrm>
          <a:prstGeom prst="rect">
            <a:avLst/>
          </a:prstGeom>
          <a:noFill/>
        </p:spPr>
        <p:txBody>
          <a:bodyPr wrap="square" rtlCol="0">
            <a:spAutoFit/>
          </a:bodyPr>
          <a:lstStyle/>
          <a:p>
            <a:pPr algn="ctr"/>
            <a:r>
              <a:rPr lang="zh-CN" altLang="en-US" dirty="0"/>
              <a:t>离子键是指阳离子和阳离子间通过静电作用形成的化学键。</a:t>
            </a:r>
            <a:r>
              <a:rPr lang="en-CN" sz="1400" dirty="0"/>
              <a:t> </a:t>
            </a:r>
            <a:endParaRPr lang="zh-CN" altLang="en-US" sz="1400" spc="400" dirty="0">
              <a:cs typeface="+mn-ea"/>
              <a:sym typeface="+mn-lt"/>
            </a:endParaRPr>
          </a:p>
        </p:txBody>
      </p:sp>
      <p:sp>
        <p:nvSpPr>
          <p:cNvPr id="26" name="文本框 25">
            <a:extLst>
              <a:ext uri="{FF2B5EF4-FFF2-40B4-BE49-F238E27FC236}">
                <a16:creationId xmlns:a16="http://schemas.microsoft.com/office/drawing/2014/main" id="{65BCA284-03C5-4293-BB31-888867DC52E8}"/>
              </a:ext>
            </a:extLst>
          </p:cNvPr>
          <p:cNvSpPr txBox="1"/>
          <p:nvPr/>
        </p:nvSpPr>
        <p:spPr>
          <a:xfrm>
            <a:off x="3914816" y="4404332"/>
            <a:ext cx="1864360" cy="1477328"/>
          </a:xfrm>
          <a:prstGeom prst="rect">
            <a:avLst/>
          </a:prstGeom>
          <a:noFill/>
        </p:spPr>
        <p:txBody>
          <a:bodyPr wrap="square" rtlCol="0">
            <a:spAutoFit/>
          </a:bodyPr>
          <a:lstStyle/>
          <a:p>
            <a:pPr algn="ctr"/>
            <a:r>
              <a:rPr lang="zh-CN" altLang="en-US" dirty="0"/>
              <a:t>由几个相邻原子通过共用电子并与共用电子之间形成的一种强烈作用叫做共价键。</a:t>
            </a:r>
            <a:r>
              <a:rPr lang="en-CN" sz="1400" dirty="0"/>
              <a:t> </a:t>
            </a:r>
            <a:endParaRPr lang="zh-CN" altLang="en-US" sz="1400" spc="400" dirty="0">
              <a:cs typeface="+mn-ea"/>
              <a:sym typeface="+mn-lt"/>
            </a:endParaRPr>
          </a:p>
        </p:txBody>
      </p:sp>
      <p:sp>
        <p:nvSpPr>
          <p:cNvPr id="29" name="文本框 28">
            <a:extLst>
              <a:ext uri="{FF2B5EF4-FFF2-40B4-BE49-F238E27FC236}">
                <a16:creationId xmlns:a16="http://schemas.microsoft.com/office/drawing/2014/main" id="{880C1557-3D1C-49B1-B697-608BADC9AC78}"/>
              </a:ext>
            </a:extLst>
          </p:cNvPr>
          <p:cNvSpPr txBox="1"/>
          <p:nvPr/>
        </p:nvSpPr>
        <p:spPr>
          <a:xfrm>
            <a:off x="6395002" y="4471810"/>
            <a:ext cx="1864360" cy="1477328"/>
          </a:xfrm>
          <a:prstGeom prst="rect">
            <a:avLst/>
          </a:prstGeom>
          <a:noFill/>
        </p:spPr>
        <p:txBody>
          <a:bodyPr wrap="square" rtlCol="0">
            <a:spAutoFit/>
          </a:bodyPr>
          <a:lstStyle/>
          <a:p>
            <a:pPr algn="ctr"/>
            <a:r>
              <a:rPr lang="zh-CN" altLang="en-US" dirty="0"/>
              <a:t>纯净物分子内或晶体内相邻两个或多个原子（或离子）间强烈相互作用力的统称。</a:t>
            </a:r>
            <a:r>
              <a:rPr lang="en-CN" sz="1400" dirty="0"/>
              <a:t> </a:t>
            </a:r>
            <a:endParaRPr lang="zh-CN" altLang="en-US" sz="1400" spc="400" dirty="0">
              <a:cs typeface="+mn-ea"/>
              <a:sym typeface="+mn-lt"/>
            </a:endParaRPr>
          </a:p>
        </p:txBody>
      </p:sp>
      <p:sp>
        <p:nvSpPr>
          <p:cNvPr id="32" name="文本框 31">
            <a:extLst>
              <a:ext uri="{FF2B5EF4-FFF2-40B4-BE49-F238E27FC236}">
                <a16:creationId xmlns:a16="http://schemas.microsoft.com/office/drawing/2014/main" id="{CCCAA032-7718-49EC-AD1F-C62FCA7F0205}"/>
              </a:ext>
            </a:extLst>
          </p:cNvPr>
          <p:cNvSpPr txBox="1"/>
          <p:nvPr/>
        </p:nvSpPr>
        <p:spPr>
          <a:xfrm>
            <a:off x="8875188" y="4471810"/>
            <a:ext cx="1864360" cy="1477328"/>
          </a:xfrm>
          <a:prstGeom prst="rect">
            <a:avLst/>
          </a:prstGeom>
          <a:noFill/>
        </p:spPr>
        <p:txBody>
          <a:bodyPr wrap="square" rtlCol="0">
            <a:spAutoFit/>
          </a:bodyPr>
          <a:lstStyle/>
          <a:p>
            <a:pPr algn="ctr"/>
            <a:r>
              <a:rPr lang="zh-CN" altLang="en-US" dirty="0"/>
              <a:t>失去外层的电子以达到相对稳定结构的离子形式，一般都是金属离子。</a:t>
            </a:r>
            <a:r>
              <a:rPr lang="en-CN" sz="1400" dirty="0"/>
              <a:t> </a:t>
            </a:r>
            <a:endParaRPr lang="zh-CN" altLang="en-US" sz="1400" spc="400" dirty="0">
              <a:cs typeface="+mn-ea"/>
              <a:sym typeface="+mn-lt"/>
            </a:endParaRPr>
          </a:p>
        </p:txBody>
      </p:sp>
      <p:sp>
        <p:nvSpPr>
          <p:cNvPr id="38" name="椭圆 37">
            <a:extLst>
              <a:ext uri="{FF2B5EF4-FFF2-40B4-BE49-F238E27FC236}">
                <a16:creationId xmlns:a16="http://schemas.microsoft.com/office/drawing/2014/main" id="{2B198112-2A72-4E71-BC53-7EE9A05DC9E9}"/>
              </a:ext>
            </a:extLst>
          </p:cNvPr>
          <p:cNvSpPr/>
          <p:nvPr/>
        </p:nvSpPr>
        <p:spPr>
          <a:xfrm>
            <a:off x="264813" y="5775275"/>
            <a:ext cx="709746" cy="709746"/>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38">
            <a:extLst>
              <a:ext uri="{FF2B5EF4-FFF2-40B4-BE49-F238E27FC236}">
                <a16:creationId xmlns:a16="http://schemas.microsoft.com/office/drawing/2014/main" id="{5D602541-61A1-44C4-8E5D-104D2BB87236}"/>
              </a:ext>
            </a:extLst>
          </p:cNvPr>
          <p:cNvSpPr/>
          <p:nvPr/>
        </p:nvSpPr>
        <p:spPr>
          <a:xfrm>
            <a:off x="10550752" y="-661189"/>
            <a:ext cx="2133600" cy="21336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Tree>
    <p:custDataLst>
      <p:tags r:id="rId1"/>
    </p:custDataLst>
    <p:extLst>
      <p:ext uri="{BB962C8B-B14F-4D97-AF65-F5344CB8AC3E}">
        <p14:creationId xmlns:p14="http://schemas.microsoft.com/office/powerpoint/2010/main" val="30623148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p:cTn id="15" dur="500" fill="hold"/>
                                        <p:tgtEl>
                                          <p:spTgt spid="38"/>
                                        </p:tgtEl>
                                        <p:attrNameLst>
                                          <p:attrName>ppt_w</p:attrName>
                                        </p:attrNameLst>
                                      </p:cBhvr>
                                      <p:tavLst>
                                        <p:tav tm="0">
                                          <p:val>
                                            <p:fltVal val="0"/>
                                          </p:val>
                                        </p:tav>
                                        <p:tav tm="100000">
                                          <p:val>
                                            <p:strVal val="#ppt_w"/>
                                          </p:val>
                                        </p:tav>
                                      </p:tavLst>
                                    </p:anim>
                                    <p:anim calcmode="lin" valueType="num">
                                      <p:cBhvr>
                                        <p:cTn id="16" dur="500" fill="hold"/>
                                        <p:tgtEl>
                                          <p:spTgt spid="38"/>
                                        </p:tgtEl>
                                        <p:attrNameLst>
                                          <p:attrName>ppt_h</p:attrName>
                                        </p:attrNameLst>
                                      </p:cBhvr>
                                      <p:tavLst>
                                        <p:tav tm="0">
                                          <p:val>
                                            <p:fltVal val="0"/>
                                          </p:val>
                                        </p:tav>
                                        <p:tav tm="100000">
                                          <p:val>
                                            <p:strVal val="#ppt_h"/>
                                          </p:val>
                                        </p:tav>
                                      </p:tavLst>
                                    </p:anim>
                                    <p:animEffect transition="in" filter="fade">
                                      <p:cBhvr>
                                        <p:cTn id="17" dur="500"/>
                                        <p:tgtEl>
                                          <p:spTgt spid="38"/>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 calcmode="lin" valueType="num">
                                      <p:cBhvr>
                                        <p:cTn id="20" dur="500" fill="hold"/>
                                        <p:tgtEl>
                                          <p:spTgt spid="39"/>
                                        </p:tgtEl>
                                        <p:attrNameLst>
                                          <p:attrName>ppt_w</p:attrName>
                                        </p:attrNameLst>
                                      </p:cBhvr>
                                      <p:tavLst>
                                        <p:tav tm="0">
                                          <p:val>
                                            <p:fltVal val="0"/>
                                          </p:val>
                                        </p:tav>
                                        <p:tav tm="100000">
                                          <p:val>
                                            <p:strVal val="#ppt_w"/>
                                          </p:val>
                                        </p:tav>
                                      </p:tavLst>
                                    </p:anim>
                                    <p:anim calcmode="lin" valueType="num">
                                      <p:cBhvr>
                                        <p:cTn id="21" dur="500" fill="hold"/>
                                        <p:tgtEl>
                                          <p:spTgt spid="39"/>
                                        </p:tgtEl>
                                        <p:attrNameLst>
                                          <p:attrName>ppt_h</p:attrName>
                                        </p:attrNameLst>
                                      </p:cBhvr>
                                      <p:tavLst>
                                        <p:tav tm="0">
                                          <p:val>
                                            <p:fltVal val="0"/>
                                          </p:val>
                                        </p:tav>
                                        <p:tav tm="100000">
                                          <p:val>
                                            <p:strVal val="#ppt_h"/>
                                          </p:val>
                                        </p:tav>
                                      </p:tavLst>
                                    </p:anim>
                                    <p:animEffect transition="in" filter="fade">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blinds(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blinds(horizontal)">
                                      <p:cBhvr>
                                        <p:cTn id="56" dur="500"/>
                                        <p:tgtEl>
                                          <p:spTgt spid="2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9">
                                            <p:txEl>
                                              <p:pRg st="0" end="0"/>
                                            </p:txEl>
                                          </p:spTgt>
                                        </p:tgtEl>
                                        <p:attrNameLst>
                                          <p:attrName>style.visibility</p:attrName>
                                        </p:attrNameLst>
                                      </p:cBhvr>
                                      <p:to>
                                        <p:strVal val="visible"/>
                                      </p:to>
                                    </p:set>
                                    <p:animEffect transition="in" filter="blinds(horizontal)">
                                      <p:cBhvr>
                                        <p:cTn id="61" dur="500"/>
                                        <p:tgtEl>
                                          <p:spTgt spid="29">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blinds(horizontal)">
                                      <p:cBhvr>
                                        <p:cTn id="6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23" grpId="0"/>
      <p:bldP spid="26" grpId="0"/>
      <p:bldP spid="32" grpId="0"/>
      <p:bldP spid="38" grpId="0" animBg="1"/>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1" name="组合 20">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23"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文本框 5">
              <a:extLst>
                <a:ext uri="{FF2B5EF4-FFF2-40B4-BE49-F238E27FC236}">
                  <a16:creationId xmlns:a16="http://schemas.microsoft.com/office/drawing/2014/main" id="{8E42A8E3-2D45-4AB9-B1D0-8A0770BF747D}"/>
                </a:ext>
              </a:extLst>
            </p:cNvPr>
            <p:cNvSpPr txBox="1"/>
            <p:nvPr/>
          </p:nvSpPr>
          <p:spPr>
            <a:xfrm>
              <a:off x="3048000" y="3136612"/>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300" normalizeH="0" baseline="0" noProof="0" dirty="0">
                  <a:ln>
                    <a:noFill/>
                  </a:ln>
                  <a:solidFill>
                    <a:prstClr val="black"/>
                  </a:solidFill>
                  <a:effectLst/>
                  <a:uLnTx/>
                  <a:uFillTx/>
                  <a:cs typeface="+mn-ea"/>
                  <a:sym typeface="+mn-lt"/>
                </a:rPr>
                <a:t>真空中能燃烧吗</a:t>
              </a:r>
              <a:endParaRPr kumimoji="0" lang="en-US" altLang="zh-CN" sz="3200" b="0" i="0" u="none" strike="noStrike" kern="1200" cap="none" spc="300" normalizeH="0" baseline="0" noProof="0" dirty="0">
                <a:ln>
                  <a:noFill/>
                </a:ln>
                <a:solidFill>
                  <a:prstClr val="black"/>
                </a:solidFill>
                <a:effectLst/>
                <a:uLnTx/>
                <a:uFillTx/>
                <a:cs typeface="+mn-ea"/>
                <a:sym typeface="+mn-lt"/>
              </a:endParaRPr>
            </a:p>
          </p:txBody>
        </p:sp>
        <p:sp>
          <p:nvSpPr>
            <p:cNvPr id="25"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cs typeface="+mn-ea"/>
                  <a:sym typeface="+mn-lt"/>
                </a:rPr>
                <a:t> </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5950157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zh-CN" altLang="en-US" sz="4000" dirty="0">
                  <a:cs typeface="+mn-ea"/>
                  <a:sym typeface="+mn-lt"/>
                </a:rPr>
                <a:t>真空中能燃烧吗</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2" name="组合 17">
            <a:extLst>
              <a:ext uri="{FF2B5EF4-FFF2-40B4-BE49-F238E27FC236}">
                <a16:creationId xmlns:a16="http://schemas.microsoft.com/office/drawing/2014/main" id="{978FBDA8-8B87-B14C-A9FE-9219EE2E074C}"/>
              </a:ext>
            </a:extLst>
          </p:cNvPr>
          <p:cNvGrpSpPr/>
          <p:nvPr/>
        </p:nvGrpSpPr>
        <p:grpSpPr>
          <a:xfrm>
            <a:off x="776514" y="2095910"/>
            <a:ext cx="10638972" cy="3904343"/>
            <a:chOff x="776514" y="1785257"/>
            <a:chExt cx="10638972" cy="3904343"/>
          </a:xfrm>
        </p:grpSpPr>
        <p:sp>
          <p:nvSpPr>
            <p:cNvPr id="53" name="矩形: 圆角 1">
              <a:extLst>
                <a:ext uri="{FF2B5EF4-FFF2-40B4-BE49-F238E27FC236}">
                  <a16:creationId xmlns:a16="http://schemas.microsoft.com/office/drawing/2014/main" id="{EF50C673-899C-A644-A006-D6EEF66057DE}"/>
                </a:ext>
              </a:extLst>
            </p:cNvPr>
            <p:cNvSpPr/>
            <p:nvPr/>
          </p:nvSpPr>
          <p:spPr>
            <a:xfrm>
              <a:off x="776515" y="1785257"/>
              <a:ext cx="10638971" cy="3904343"/>
            </a:xfrm>
            <a:prstGeom prst="roundRect">
              <a:avLst>
                <a:gd name="adj" fmla="val 4028"/>
              </a:avLst>
            </a:prstGeom>
            <a:solidFill>
              <a:schemeClr val="bg1"/>
            </a:solidFill>
            <a:ln>
              <a:noFill/>
            </a:ln>
            <a:effectLst>
              <a:outerShdw blurRad="3683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圆角 2">
              <a:extLst>
                <a:ext uri="{FF2B5EF4-FFF2-40B4-BE49-F238E27FC236}">
                  <a16:creationId xmlns:a16="http://schemas.microsoft.com/office/drawing/2014/main" id="{E6F26E67-2BF7-504F-A141-82B9C2A90761}"/>
                </a:ext>
              </a:extLst>
            </p:cNvPr>
            <p:cNvSpPr/>
            <p:nvPr/>
          </p:nvSpPr>
          <p:spPr>
            <a:xfrm>
              <a:off x="776514" y="2191657"/>
              <a:ext cx="159657" cy="3091543"/>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5" name="组合 6">
            <a:extLst>
              <a:ext uri="{FF2B5EF4-FFF2-40B4-BE49-F238E27FC236}">
                <a16:creationId xmlns:a16="http://schemas.microsoft.com/office/drawing/2014/main" id="{24CE33F1-8AB2-4B4A-B01D-939D94BC8F9C}"/>
              </a:ext>
            </a:extLst>
          </p:cNvPr>
          <p:cNvGrpSpPr/>
          <p:nvPr/>
        </p:nvGrpSpPr>
        <p:grpSpPr>
          <a:xfrm>
            <a:off x="1529438" y="2696439"/>
            <a:ext cx="4926780" cy="784830"/>
            <a:chOff x="736600" y="2095500"/>
            <a:chExt cx="3378200" cy="784830"/>
          </a:xfrm>
        </p:grpSpPr>
        <p:sp>
          <p:nvSpPr>
            <p:cNvPr id="56" name="文本框 7">
              <a:extLst>
                <a:ext uri="{FF2B5EF4-FFF2-40B4-BE49-F238E27FC236}">
                  <a16:creationId xmlns:a16="http://schemas.microsoft.com/office/drawing/2014/main" id="{3C6A8F27-FC67-5E41-89C0-D6741517850D}"/>
                </a:ext>
              </a:extLst>
            </p:cNvPr>
            <p:cNvSpPr txBox="1"/>
            <p:nvPr/>
          </p:nvSpPr>
          <p:spPr>
            <a:xfrm>
              <a:off x="736600" y="2095500"/>
              <a:ext cx="3378200" cy="523220"/>
            </a:xfrm>
            <a:prstGeom prst="rect">
              <a:avLst/>
            </a:prstGeom>
            <a:noFill/>
          </p:spPr>
          <p:txBody>
            <a:bodyPr wrap="square" rtlCol="0">
              <a:spAutoFit/>
            </a:bodyPr>
            <a:lstStyle/>
            <a:p>
              <a:r>
                <a:rPr lang="zh-CN" altLang="en-US" sz="2800" dirty="0">
                  <a:cs typeface="+mn-ea"/>
                  <a:sym typeface="+mn-lt"/>
                </a:rPr>
                <a:t>不能。</a:t>
              </a:r>
            </a:p>
          </p:txBody>
        </p:sp>
        <p:sp>
          <p:nvSpPr>
            <p:cNvPr id="57" name="文本框 8">
              <a:extLst>
                <a:ext uri="{FF2B5EF4-FFF2-40B4-BE49-F238E27FC236}">
                  <a16:creationId xmlns:a16="http://schemas.microsoft.com/office/drawing/2014/main" id="{92BD81B8-D5C5-F641-B010-FB30F5DAD731}"/>
                </a:ext>
              </a:extLst>
            </p:cNvPr>
            <p:cNvSpPr txBox="1"/>
            <p:nvPr/>
          </p:nvSpPr>
          <p:spPr>
            <a:xfrm>
              <a:off x="736600" y="2618720"/>
              <a:ext cx="3263900" cy="261610"/>
            </a:xfrm>
            <a:prstGeom prst="rect">
              <a:avLst/>
            </a:prstGeom>
            <a:noFill/>
          </p:spPr>
          <p:txBody>
            <a:bodyPr wrap="square">
              <a:spAutoFit/>
            </a:bodyPr>
            <a:lstStyle/>
            <a:p>
              <a:endParaRPr lang="zh-CN" altLang="en-US" sz="1100" dirty="0">
                <a:cs typeface="+mn-ea"/>
                <a:sym typeface="+mn-lt"/>
              </a:endParaRPr>
            </a:p>
          </p:txBody>
        </p:sp>
      </p:grpSp>
      <p:sp>
        <p:nvSpPr>
          <p:cNvPr id="58" name="文本框 9">
            <a:extLst>
              <a:ext uri="{FF2B5EF4-FFF2-40B4-BE49-F238E27FC236}">
                <a16:creationId xmlns:a16="http://schemas.microsoft.com/office/drawing/2014/main" id="{81F48AA5-0B4A-9343-A3CA-FC3ED75FABE4}"/>
              </a:ext>
            </a:extLst>
          </p:cNvPr>
          <p:cNvSpPr txBox="1"/>
          <p:nvPr/>
        </p:nvSpPr>
        <p:spPr>
          <a:xfrm>
            <a:off x="1529438" y="3732793"/>
            <a:ext cx="4038600" cy="707886"/>
          </a:xfrm>
          <a:prstGeom prst="rect">
            <a:avLst/>
          </a:prstGeom>
          <a:noFill/>
        </p:spPr>
        <p:txBody>
          <a:bodyPr wrap="square" rtlCol="0">
            <a:spAutoFit/>
          </a:bodyPr>
          <a:lstStyle/>
          <a:p>
            <a:r>
              <a:rPr lang="zh-CN" altLang="en-US" sz="2000" spc="400" dirty="0">
                <a:cs typeface="+mn-ea"/>
                <a:sym typeface="+mn-lt"/>
              </a:rPr>
              <a:t>如果只有</a:t>
            </a:r>
            <a:r>
              <a:rPr lang="zh-CN" altLang="en-CN" sz="2000" spc="400" dirty="0">
                <a:cs typeface="+mn-ea"/>
                <a:sym typeface="+mn-lt"/>
              </a:rPr>
              <a:t>引火源</a:t>
            </a:r>
            <a:r>
              <a:rPr lang="zh-CN" altLang="en-US" sz="2000" spc="400" dirty="0">
                <a:cs typeface="+mn-ea"/>
                <a:sym typeface="+mn-lt"/>
              </a:rPr>
              <a:t>和可燃物，而没有助燃物，则不能燃烧。</a:t>
            </a:r>
          </a:p>
        </p:txBody>
      </p:sp>
      <p:sp>
        <p:nvSpPr>
          <p:cNvPr id="59" name="AutoShape 2">
            <a:extLst>
              <a:ext uri="{FF2B5EF4-FFF2-40B4-BE49-F238E27FC236}">
                <a16:creationId xmlns:a16="http://schemas.microsoft.com/office/drawing/2014/main" id="{5F556A4E-2957-AE49-B1F0-B913C1260A5D}"/>
              </a:ext>
            </a:extLst>
          </p:cNvPr>
          <p:cNvSpPr>
            <a:spLocks noChangeAspect="1" noChangeArrowheads="1"/>
          </p:cNvSpPr>
          <p:nvPr/>
        </p:nvSpPr>
        <p:spPr bwMode="auto">
          <a:xfrm>
            <a:off x="5943600" y="358725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pic>
        <p:nvPicPr>
          <p:cNvPr id="61" name="Picture 60" descr="安全顾问】消防科普：物质燃烧的条件_艾克斯博特_新浪博客">
            <a:extLst>
              <a:ext uri="{FF2B5EF4-FFF2-40B4-BE49-F238E27FC236}">
                <a16:creationId xmlns:a16="http://schemas.microsoft.com/office/drawing/2014/main" id="{7768471C-655B-0F4F-9CE8-CE533000CF63}"/>
              </a:ext>
            </a:extLst>
          </p:cNvPr>
          <p:cNvPicPr>
            <a:picLocks noChangeAspect="1"/>
          </p:cNvPicPr>
          <p:nvPr/>
        </p:nvPicPr>
        <p:blipFill rotWithShape="1">
          <a:blip r:embed="rId3">
            <a:extLst>
              <a:ext uri="{28A0092B-C50C-407E-A947-70E740481C1C}">
                <a14:useLocalDpi xmlns:a14="http://schemas.microsoft.com/office/drawing/2010/main" val="0"/>
              </a:ext>
            </a:extLst>
          </a:blip>
          <a:srcRect b="10883"/>
          <a:stretch/>
        </p:blipFill>
        <p:spPr bwMode="auto">
          <a:xfrm>
            <a:off x="5756913" y="2382788"/>
            <a:ext cx="5658572" cy="3330587"/>
          </a:xfrm>
          <a:prstGeom prst="rect">
            <a:avLst/>
          </a:prstGeom>
          <a:noFill/>
          <a:ln>
            <a:noFill/>
          </a:ln>
          <a:extLst>
            <a:ext uri="{53640926-AAD7-44D8-BBD7-CCE9431645EC}">
              <a14:shadowObscured xmlns:a14="http://schemas.microsoft.com/office/drawing/2010/main"/>
            </a:ext>
          </a:extLst>
        </p:spPr>
      </p:pic>
      <p:grpSp>
        <p:nvGrpSpPr>
          <p:cNvPr id="63" name="Group 62">
            <a:extLst>
              <a:ext uri="{FF2B5EF4-FFF2-40B4-BE49-F238E27FC236}">
                <a16:creationId xmlns:a16="http://schemas.microsoft.com/office/drawing/2014/main" id="{2655F997-CAF1-0B43-9E4E-4BBE514B0D52}"/>
              </a:ext>
            </a:extLst>
          </p:cNvPr>
          <p:cNvGrpSpPr/>
          <p:nvPr/>
        </p:nvGrpSpPr>
        <p:grpSpPr>
          <a:xfrm>
            <a:off x="8875676" y="2993542"/>
            <a:ext cx="641520" cy="763744"/>
            <a:chOff x="9014222" y="2993542"/>
            <a:chExt cx="641520" cy="763744"/>
          </a:xfrm>
        </p:grpSpPr>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D2922BF9-1BAE-5348-8B70-75AD105C6E7B}"/>
                    </a:ext>
                  </a:extLst>
                </p14:cNvPr>
                <p14:cNvContentPartPr/>
                <p14:nvPr/>
              </p14:nvContentPartPr>
              <p14:xfrm>
                <a:off x="9266171" y="2993542"/>
                <a:ext cx="104400" cy="721800"/>
              </p14:xfrm>
            </p:contentPart>
          </mc:Choice>
          <mc:Fallback xmlns="">
            <p:pic>
              <p:nvPicPr>
                <p:cNvPr id="28" name="Ink 27">
                  <a:extLst>
                    <a:ext uri="{FF2B5EF4-FFF2-40B4-BE49-F238E27FC236}">
                      <a16:creationId xmlns:a16="http://schemas.microsoft.com/office/drawing/2014/main" id="{D2922BF9-1BAE-5348-8B70-75AD105C6E7B}"/>
                    </a:ext>
                  </a:extLst>
                </p:cNvPr>
                <p:cNvPicPr/>
                <p:nvPr/>
              </p:nvPicPr>
              <p:blipFill>
                <a:blip r:embed="rId5"/>
                <a:stretch>
                  <a:fillRect/>
                </a:stretch>
              </p:blipFill>
              <p:spPr>
                <a:xfrm>
                  <a:off x="9257531" y="2984902"/>
                  <a:ext cx="122040" cy="739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Ink 61">
                  <a:extLst>
                    <a:ext uri="{FF2B5EF4-FFF2-40B4-BE49-F238E27FC236}">
                      <a16:creationId xmlns:a16="http://schemas.microsoft.com/office/drawing/2014/main" id="{54673C8E-CE6F-F640-97B7-3C4AEC3A3155}"/>
                    </a:ext>
                  </a:extLst>
                </p14:cNvPr>
                <p14:cNvContentPartPr/>
                <p14:nvPr/>
              </p14:nvContentPartPr>
              <p14:xfrm>
                <a:off x="9014222" y="3108566"/>
                <a:ext cx="641520" cy="648720"/>
              </p14:xfrm>
            </p:contentPart>
          </mc:Choice>
          <mc:Fallback xmlns="">
            <p:pic>
              <p:nvPicPr>
                <p:cNvPr id="62" name="Ink 61">
                  <a:extLst>
                    <a:ext uri="{FF2B5EF4-FFF2-40B4-BE49-F238E27FC236}">
                      <a16:creationId xmlns:a16="http://schemas.microsoft.com/office/drawing/2014/main" id="{54673C8E-CE6F-F640-97B7-3C4AEC3A3155}"/>
                    </a:ext>
                  </a:extLst>
                </p:cNvPr>
                <p:cNvPicPr/>
                <p:nvPr/>
              </p:nvPicPr>
              <p:blipFill>
                <a:blip r:embed="rId7"/>
                <a:stretch>
                  <a:fillRect/>
                </a:stretch>
              </p:blipFill>
              <p:spPr>
                <a:xfrm>
                  <a:off x="9005222" y="3099926"/>
                  <a:ext cx="659160" cy="666360"/>
                </a:xfrm>
                <a:prstGeom prst="rect">
                  <a:avLst/>
                </a:prstGeom>
              </p:spPr>
            </p:pic>
          </mc:Fallback>
        </mc:AlternateContent>
      </p:grpSp>
      <p:grpSp>
        <p:nvGrpSpPr>
          <p:cNvPr id="67" name="Group 66">
            <a:extLst>
              <a:ext uri="{FF2B5EF4-FFF2-40B4-BE49-F238E27FC236}">
                <a16:creationId xmlns:a16="http://schemas.microsoft.com/office/drawing/2014/main" id="{D943A397-B7C6-EA4E-A66A-70B240A8E293}"/>
              </a:ext>
            </a:extLst>
          </p:cNvPr>
          <p:cNvGrpSpPr/>
          <p:nvPr/>
        </p:nvGrpSpPr>
        <p:grpSpPr>
          <a:xfrm>
            <a:off x="7967291" y="3581062"/>
            <a:ext cx="1094400" cy="810720"/>
            <a:chOff x="7967291" y="3581062"/>
            <a:chExt cx="1094400" cy="810720"/>
          </a:xfrm>
        </p:grpSpPr>
        <mc:AlternateContent xmlns:mc="http://schemas.openxmlformats.org/markup-compatibility/2006" xmlns:p14="http://schemas.microsoft.com/office/powerpoint/2010/main" xmlns:aink="http://schemas.microsoft.com/office/drawing/2016/ink">
          <mc:Choice Requires="p14 aink">
            <p:contentPart p14:bwMode="auto" r:id="rId8">
              <p14:nvContentPartPr>
                <p14:cNvPr id="65" name="Ink 64">
                  <a:extLst>
                    <a:ext uri="{FF2B5EF4-FFF2-40B4-BE49-F238E27FC236}">
                      <a16:creationId xmlns:a16="http://schemas.microsoft.com/office/drawing/2014/main" id="{290D429E-DA77-7246-B142-7340F2B73166}"/>
                    </a:ext>
                  </a:extLst>
                </p14:cNvPr>
                <p14:cNvContentPartPr/>
                <p14:nvPr/>
              </p14:nvContentPartPr>
              <p14:xfrm>
                <a:off x="7975931" y="3626062"/>
                <a:ext cx="781200" cy="765720"/>
              </p14:xfrm>
            </p:contentPart>
          </mc:Choice>
          <mc:Fallback xmlns="">
            <p:pic>
              <p:nvPicPr>
                <p:cNvPr id="65" name="Ink 64">
                  <a:extLst>
                    <a:ext uri="{FF2B5EF4-FFF2-40B4-BE49-F238E27FC236}">
                      <a16:creationId xmlns:a16="http://schemas.microsoft.com/office/drawing/2014/main" id="{290D429E-DA77-7246-B142-7340F2B73166}"/>
                    </a:ext>
                  </a:extLst>
                </p:cNvPr>
                <p:cNvPicPr/>
                <p:nvPr/>
              </p:nvPicPr>
              <p:blipFill>
                <a:blip r:embed="rId9"/>
                <a:stretch>
                  <a:fillRect/>
                </a:stretch>
              </p:blipFill>
              <p:spPr>
                <a:xfrm>
                  <a:off x="7957931" y="3608062"/>
                  <a:ext cx="816840" cy="80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66" name="Ink 65">
                  <a:extLst>
                    <a:ext uri="{FF2B5EF4-FFF2-40B4-BE49-F238E27FC236}">
                      <a16:creationId xmlns:a16="http://schemas.microsoft.com/office/drawing/2014/main" id="{E68FE3D7-DA15-094E-B263-7AD0B5791CE1}"/>
                    </a:ext>
                  </a:extLst>
                </p14:cNvPr>
                <p14:cNvContentPartPr/>
                <p14:nvPr/>
              </p14:nvContentPartPr>
              <p14:xfrm>
                <a:off x="7967291" y="3581062"/>
                <a:ext cx="1094400" cy="806040"/>
              </p14:xfrm>
            </p:contentPart>
          </mc:Choice>
          <mc:Fallback xmlns="">
            <p:pic>
              <p:nvPicPr>
                <p:cNvPr id="66" name="Ink 65">
                  <a:extLst>
                    <a:ext uri="{FF2B5EF4-FFF2-40B4-BE49-F238E27FC236}">
                      <a16:creationId xmlns:a16="http://schemas.microsoft.com/office/drawing/2014/main" id="{E68FE3D7-DA15-094E-B263-7AD0B5791CE1}"/>
                    </a:ext>
                  </a:extLst>
                </p:cNvPr>
                <p:cNvPicPr/>
                <p:nvPr/>
              </p:nvPicPr>
              <p:blipFill>
                <a:blip r:embed="rId11"/>
                <a:stretch>
                  <a:fillRect/>
                </a:stretch>
              </p:blipFill>
              <p:spPr>
                <a:xfrm>
                  <a:off x="7949651" y="3563062"/>
                  <a:ext cx="1130040" cy="841680"/>
                </a:xfrm>
                <a:prstGeom prst="rect">
                  <a:avLst/>
                </a:prstGeom>
              </p:spPr>
            </p:pic>
          </mc:Fallback>
        </mc:AlternateContent>
      </p:grpSp>
    </p:spTree>
    <p:custDataLst>
      <p:tags r:id="rId1"/>
    </p:custDataLst>
    <p:extLst>
      <p:ext uri="{BB962C8B-B14F-4D97-AF65-F5344CB8AC3E}">
        <p14:creationId xmlns:p14="http://schemas.microsoft.com/office/powerpoint/2010/main" val="6903189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additive="base">
                                        <p:cTn id="17" dur="500" fill="hold"/>
                                        <p:tgtEl>
                                          <p:spTgt spid="52"/>
                                        </p:tgtEl>
                                        <p:attrNameLst>
                                          <p:attrName>ppt_x</p:attrName>
                                        </p:attrNameLst>
                                      </p:cBhvr>
                                      <p:tavLst>
                                        <p:tav tm="0">
                                          <p:val>
                                            <p:strVal val="0-#ppt_w/2"/>
                                          </p:val>
                                        </p:tav>
                                        <p:tav tm="100000">
                                          <p:val>
                                            <p:strVal val="#ppt_x"/>
                                          </p:val>
                                        </p:tav>
                                      </p:tavLst>
                                    </p:anim>
                                    <p:anim calcmode="lin" valueType="num">
                                      <p:cBhvr additive="base">
                                        <p:cTn id="18"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randombar(horizontal)">
                                      <p:cBhvr>
                                        <p:cTn id="23" dur="500"/>
                                        <p:tgtEl>
                                          <p:spTgt spid="55"/>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randombar(horizontal)">
                                      <p:cBhvr>
                                        <p:cTn id="26" dur="500"/>
                                        <p:tgtEl>
                                          <p:spTgt spid="58"/>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1"/>
                                        </p:tgtEl>
                                        <p:attrNameLst>
                                          <p:attrName>style.visibility</p:attrName>
                                        </p:attrNameLst>
                                      </p:cBhvr>
                                      <p:to>
                                        <p:strVal val="visible"/>
                                      </p:to>
                                    </p:set>
                                    <p:anim calcmode="lin" valueType="num">
                                      <p:cBhvr additive="base">
                                        <p:cTn id="31" dur="500" fill="hold"/>
                                        <p:tgtEl>
                                          <p:spTgt spid="61"/>
                                        </p:tgtEl>
                                        <p:attrNameLst>
                                          <p:attrName>ppt_x</p:attrName>
                                        </p:attrNameLst>
                                      </p:cBhvr>
                                      <p:tavLst>
                                        <p:tav tm="0">
                                          <p:val>
                                            <p:strVal val="#ppt_x"/>
                                          </p:val>
                                        </p:tav>
                                        <p:tav tm="100000">
                                          <p:val>
                                            <p:strVal val="#ppt_x"/>
                                          </p:val>
                                        </p:tav>
                                      </p:tavLst>
                                    </p:anim>
                                    <p:anim calcmode="lin" valueType="num">
                                      <p:cBhvr additive="base">
                                        <p:cTn id="3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randombar(horizontal)">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blinds(horizontal)">
                                      <p:cBhvr>
                                        <p:cTn id="4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1" name="组合 20">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23"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文本框 5">
              <a:extLst>
                <a:ext uri="{FF2B5EF4-FFF2-40B4-BE49-F238E27FC236}">
                  <a16:creationId xmlns:a16="http://schemas.microsoft.com/office/drawing/2014/main" id="{8E42A8E3-2D45-4AB9-B1D0-8A0770BF747D}"/>
                </a:ext>
              </a:extLst>
            </p:cNvPr>
            <p:cNvSpPr txBox="1"/>
            <p:nvPr/>
          </p:nvSpPr>
          <p:spPr>
            <a:xfrm>
              <a:off x="3048000" y="3136612"/>
              <a:ext cx="6096000" cy="1077218"/>
            </a:xfrm>
            <a:prstGeom prst="rect">
              <a:avLst/>
            </a:prstGeom>
            <a:noFill/>
          </p:spPr>
          <p:txBody>
            <a:bodyPr wrap="square">
              <a:spAutoFit/>
            </a:bodyPr>
            <a:lstStyle/>
            <a:p>
              <a:pPr lvl="0" algn="ctr">
                <a:defRPr/>
              </a:pPr>
              <a:r>
                <a:rPr lang="zh-CN" altLang="en-US" sz="3200" spc="300" dirty="0">
                  <a:solidFill>
                    <a:prstClr val="black"/>
                  </a:solidFill>
                  <a:cs typeface="+mn-ea"/>
                  <a:sym typeface="+mn-lt"/>
                </a:rPr>
                <a:t>为什么燃烧后会生成灰烬</a:t>
              </a:r>
              <a:endParaRPr lang="en-US" altLang="zh-CN" sz="3200" spc="300" dirty="0">
                <a:solidFill>
                  <a:prstClr val="black"/>
                </a:solidFill>
                <a:cs typeface="+mn-ea"/>
                <a:sym typeface="+mn-lt"/>
              </a:endParaRPr>
            </a:p>
            <a:p>
              <a:pPr lvl="0" algn="ctr">
                <a:defRPr/>
              </a:pPr>
              <a:r>
                <a:rPr lang="zh-CN" altLang="en-US" sz="3200" spc="300" dirty="0">
                  <a:solidFill>
                    <a:prstClr val="black"/>
                  </a:solidFill>
                  <a:cs typeface="+mn-ea"/>
                  <a:sym typeface="+mn-lt"/>
                </a:rPr>
                <a:t>（发黑）不再燃烧？</a:t>
              </a:r>
            </a:p>
          </p:txBody>
        </p:sp>
        <p:sp>
          <p:nvSpPr>
            <p:cNvPr id="25"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cs typeface="+mn-ea"/>
                  <a:sym typeface="+mn-lt"/>
                </a:rPr>
                <a:t> </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21934229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a:extLst>
              <a:ext uri="{FF2B5EF4-FFF2-40B4-BE49-F238E27FC236}">
                <a16:creationId xmlns:a16="http://schemas.microsoft.com/office/drawing/2014/main" id="{F70DAD00-7982-F544-BA49-45A151956DBF}"/>
              </a:ext>
            </a:extLst>
          </p:cNvPr>
          <p:cNvGrpSpPr/>
          <p:nvPr/>
        </p:nvGrpSpPr>
        <p:grpSpPr>
          <a:xfrm>
            <a:off x="2551545" y="1047495"/>
            <a:ext cx="7673109" cy="1938992"/>
            <a:chOff x="736600" y="1991896"/>
            <a:chExt cx="3515773" cy="1938992"/>
          </a:xfrm>
        </p:grpSpPr>
        <p:sp>
          <p:nvSpPr>
            <p:cNvPr id="22" name="文本框 2">
              <a:extLst>
                <a:ext uri="{FF2B5EF4-FFF2-40B4-BE49-F238E27FC236}">
                  <a16:creationId xmlns:a16="http://schemas.microsoft.com/office/drawing/2014/main" id="{42F8D34B-6147-3C4C-8609-6F7557EC63E6}"/>
                </a:ext>
              </a:extLst>
            </p:cNvPr>
            <p:cNvSpPr txBox="1"/>
            <p:nvPr/>
          </p:nvSpPr>
          <p:spPr>
            <a:xfrm>
              <a:off x="736600" y="1991896"/>
              <a:ext cx="3515773" cy="1938992"/>
            </a:xfrm>
            <a:prstGeom prst="rect">
              <a:avLst/>
            </a:prstGeom>
            <a:noFill/>
          </p:spPr>
          <p:txBody>
            <a:bodyPr wrap="square" rtlCol="0">
              <a:spAutoFit/>
            </a:bodyPr>
            <a:lstStyle/>
            <a:p>
              <a:pPr algn="ctr"/>
              <a:r>
                <a:rPr lang="zh-CN" altLang="en-US" sz="4000" dirty="0">
                  <a:cs typeface="+mn-ea"/>
                  <a:sym typeface="+mn-lt"/>
                </a:rPr>
                <a:t>为什么燃烧后会生成灰烬（发黑）不再燃烧？</a:t>
              </a:r>
            </a:p>
            <a:p>
              <a:pPr algn="ctr"/>
              <a:endParaRPr lang="zh-CN" altLang="en-US" sz="4000" dirty="0">
                <a:cs typeface="+mn-ea"/>
                <a:sym typeface="+mn-lt"/>
              </a:endParaRPr>
            </a:p>
          </p:txBody>
        </p:sp>
        <p:sp>
          <p:nvSpPr>
            <p:cNvPr id="23" name="文本框 3">
              <a:extLst>
                <a:ext uri="{FF2B5EF4-FFF2-40B4-BE49-F238E27FC236}">
                  <a16:creationId xmlns:a16="http://schemas.microsoft.com/office/drawing/2014/main" id="{61A7C001-6DF4-0E48-8DC6-BD3CF102ABD4}"/>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24" name="矩形 4">
            <a:extLst>
              <a:ext uri="{FF2B5EF4-FFF2-40B4-BE49-F238E27FC236}">
                <a16:creationId xmlns:a16="http://schemas.microsoft.com/office/drawing/2014/main" id="{D53E2C95-B0D8-8146-840C-B61CA1C4D97D}"/>
              </a:ext>
            </a:extLst>
          </p:cNvPr>
          <p:cNvSpPr/>
          <p:nvPr/>
        </p:nvSpPr>
        <p:spPr>
          <a:xfrm>
            <a:off x="5029200" y="506424"/>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7">
            <a:extLst>
              <a:ext uri="{FF2B5EF4-FFF2-40B4-BE49-F238E27FC236}">
                <a16:creationId xmlns:a16="http://schemas.microsoft.com/office/drawing/2014/main" id="{F332DA98-72BF-D047-A373-B403F1ED0721}"/>
              </a:ext>
            </a:extLst>
          </p:cNvPr>
          <p:cNvSpPr txBox="1"/>
          <p:nvPr/>
        </p:nvSpPr>
        <p:spPr>
          <a:xfrm>
            <a:off x="3792103" y="3298958"/>
            <a:ext cx="5191991" cy="1754326"/>
          </a:xfrm>
          <a:prstGeom prst="rect">
            <a:avLst/>
          </a:prstGeom>
          <a:noFill/>
        </p:spPr>
        <p:txBody>
          <a:bodyPr wrap="square" rtlCol="0">
            <a:spAutoFit/>
          </a:bodyPr>
          <a:lstStyle/>
          <a:p>
            <a:r>
              <a:rPr lang="zh-CN" altLang="en-US" sz="2800" spc="400" dirty="0">
                <a:cs typeface="+mn-ea"/>
                <a:sym typeface="+mn-lt"/>
              </a:rPr>
              <a:t>通常，</a:t>
            </a:r>
            <a:r>
              <a:rPr lang="zh-CN" altLang="en-US" sz="2000" spc="400" dirty="0">
                <a:cs typeface="+mn-ea"/>
                <a:sym typeface="+mn-lt"/>
              </a:rPr>
              <a:t>未完全燃烧燃烧后产物仍含有一定量的可燃有机化合物或其他可氧化残留物。里面含碳。</a:t>
            </a:r>
            <a:endParaRPr lang="en-US" altLang="zh-CN" sz="2000" spc="400" dirty="0">
              <a:cs typeface="+mn-ea"/>
              <a:sym typeface="+mn-lt"/>
            </a:endParaRPr>
          </a:p>
          <a:p>
            <a:r>
              <a:rPr lang="zh-CN" altLang="en-US" sz="2000" spc="400" dirty="0">
                <a:cs typeface="+mn-ea"/>
                <a:sym typeface="+mn-lt"/>
              </a:rPr>
              <a:t>  亦或是由于是细小颗粒物，造成漫反射，所以看起来是黑色的 。</a:t>
            </a:r>
            <a:endParaRPr lang="zh-CN" altLang="en-US" sz="2800" spc="400" dirty="0">
              <a:cs typeface="+mn-ea"/>
              <a:sym typeface="+mn-lt"/>
            </a:endParaRPr>
          </a:p>
        </p:txBody>
      </p:sp>
    </p:spTree>
    <p:custDataLst>
      <p:tags r:id="rId1"/>
    </p:custDataLst>
    <p:extLst>
      <p:ext uri="{BB962C8B-B14F-4D97-AF65-F5344CB8AC3E}">
        <p14:creationId xmlns:p14="http://schemas.microsoft.com/office/powerpoint/2010/main" val="28173152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a:extLst>
              <a:ext uri="{FF2B5EF4-FFF2-40B4-BE49-F238E27FC236}">
                <a16:creationId xmlns:a16="http://schemas.microsoft.com/office/drawing/2014/main" id="{F70DAD00-7982-F544-BA49-45A151956DBF}"/>
              </a:ext>
            </a:extLst>
          </p:cNvPr>
          <p:cNvGrpSpPr/>
          <p:nvPr/>
        </p:nvGrpSpPr>
        <p:grpSpPr>
          <a:xfrm>
            <a:off x="2551545" y="1047495"/>
            <a:ext cx="7673109" cy="1938992"/>
            <a:chOff x="736600" y="1991896"/>
            <a:chExt cx="3515773" cy="1938992"/>
          </a:xfrm>
        </p:grpSpPr>
        <p:sp>
          <p:nvSpPr>
            <p:cNvPr id="22" name="文本框 2">
              <a:extLst>
                <a:ext uri="{FF2B5EF4-FFF2-40B4-BE49-F238E27FC236}">
                  <a16:creationId xmlns:a16="http://schemas.microsoft.com/office/drawing/2014/main" id="{42F8D34B-6147-3C4C-8609-6F7557EC63E6}"/>
                </a:ext>
              </a:extLst>
            </p:cNvPr>
            <p:cNvSpPr txBox="1"/>
            <p:nvPr/>
          </p:nvSpPr>
          <p:spPr>
            <a:xfrm>
              <a:off x="736600" y="1991896"/>
              <a:ext cx="3515773" cy="1938992"/>
            </a:xfrm>
            <a:prstGeom prst="rect">
              <a:avLst/>
            </a:prstGeom>
            <a:noFill/>
          </p:spPr>
          <p:txBody>
            <a:bodyPr wrap="square" rtlCol="0">
              <a:spAutoFit/>
            </a:bodyPr>
            <a:lstStyle/>
            <a:p>
              <a:pPr algn="ctr"/>
              <a:r>
                <a:rPr lang="zh-CN" altLang="en-US" sz="4000" dirty="0">
                  <a:cs typeface="+mn-ea"/>
                  <a:sym typeface="+mn-lt"/>
                </a:rPr>
                <a:t>为什么燃烧后会生成灰烬（发黑）不再燃烧？</a:t>
              </a:r>
            </a:p>
            <a:p>
              <a:pPr algn="ctr"/>
              <a:endParaRPr lang="zh-CN" altLang="en-US" sz="4000" dirty="0">
                <a:cs typeface="+mn-ea"/>
                <a:sym typeface="+mn-lt"/>
              </a:endParaRPr>
            </a:p>
          </p:txBody>
        </p:sp>
        <p:sp>
          <p:nvSpPr>
            <p:cNvPr id="23" name="文本框 3">
              <a:extLst>
                <a:ext uri="{FF2B5EF4-FFF2-40B4-BE49-F238E27FC236}">
                  <a16:creationId xmlns:a16="http://schemas.microsoft.com/office/drawing/2014/main" id="{61A7C001-6DF4-0E48-8DC6-BD3CF102ABD4}"/>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24" name="矩形 4">
            <a:extLst>
              <a:ext uri="{FF2B5EF4-FFF2-40B4-BE49-F238E27FC236}">
                <a16:creationId xmlns:a16="http://schemas.microsoft.com/office/drawing/2014/main" id="{D53E2C95-B0D8-8146-840C-B61CA1C4D97D}"/>
              </a:ext>
            </a:extLst>
          </p:cNvPr>
          <p:cNvSpPr/>
          <p:nvPr/>
        </p:nvSpPr>
        <p:spPr>
          <a:xfrm>
            <a:off x="5029200" y="506424"/>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7">
            <a:extLst>
              <a:ext uri="{FF2B5EF4-FFF2-40B4-BE49-F238E27FC236}">
                <a16:creationId xmlns:a16="http://schemas.microsoft.com/office/drawing/2014/main" id="{F332DA98-72BF-D047-A373-B403F1ED0721}"/>
              </a:ext>
            </a:extLst>
          </p:cNvPr>
          <p:cNvSpPr txBox="1"/>
          <p:nvPr/>
        </p:nvSpPr>
        <p:spPr>
          <a:xfrm>
            <a:off x="3473449" y="3138887"/>
            <a:ext cx="5829300" cy="2185214"/>
          </a:xfrm>
          <a:prstGeom prst="rect">
            <a:avLst/>
          </a:prstGeom>
          <a:noFill/>
        </p:spPr>
        <p:txBody>
          <a:bodyPr wrap="square" rtlCol="0">
            <a:spAutoFit/>
          </a:bodyPr>
          <a:lstStyle/>
          <a:p>
            <a:r>
              <a:rPr lang="zh-CN" altLang="en-US" sz="2800" spc="400" dirty="0">
                <a:cs typeface="+mn-ea"/>
                <a:sym typeface="+mn-lt"/>
              </a:rPr>
              <a:t>理论上，</a:t>
            </a:r>
            <a:r>
              <a:rPr lang="zh-CN" altLang="en-US" sz="2000" spc="400" dirty="0">
                <a:cs typeface="+mn-ea"/>
                <a:sym typeface="+mn-lt"/>
              </a:rPr>
              <a:t>如果完全燃烧了，剩下灰烬最终剩下的只有无机盐，碳酸钾、氯化钠等。而无机盐，碳酸钾，氯化钠等这些物质无法再与助燃剂发生反应，为不可燃物，它！燃不起来。</a:t>
            </a:r>
          </a:p>
          <a:p>
            <a:endParaRPr lang="zh-CN" altLang="en-US" sz="2800" spc="400" dirty="0">
              <a:cs typeface="+mn-ea"/>
              <a:sym typeface="+mn-lt"/>
            </a:endParaRPr>
          </a:p>
        </p:txBody>
      </p:sp>
    </p:spTree>
    <p:custDataLst>
      <p:tags r:id="rId1"/>
    </p:custDataLst>
    <p:extLst>
      <p:ext uri="{BB962C8B-B14F-4D97-AF65-F5344CB8AC3E}">
        <p14:creationId xmlns:p14="http://schemas.microsoft.com/office/powerpoint/2010/main" val="36454716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1" name="组合 20">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23"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文本框 5">
              <a:extLst>
                <a:ext uri="{FF2B5EF4-FFF2-40B4-BE49-F238E27FC236}">
                  <a16:creationId xmlns:a16="http://schemas.microsoft.com/office/drawing/2014/main" id="{8E42A8E3-2D45-4AB9-B1D0-8A0770BF747D}"/>
                </a:ext>
              </a:extLst>
            </p:cNvPr>
            <p:cNvSpPr txBox="1"/>
            <p:nvPr/>
          </p:nvSpPr>
          <p:spPr>
            <a:xfrm>
              <a:off x="3048000" y="3136612"/>
              <a:ext cx="6096000" cy="584775"/>
            </a:xfrm>
            <a:prstGeom prst="rect">
              <a:avLst/>
            </a:prstGeom>
            <a:noFill/>
          </p:spPr>
          <p:txBody>
            <a:bodyPr wrap="square">
              <a:spAutoFit/>
            </a:bodyPr>
            <a:lstStyle/>
            <a:p>
              <a:pPr lvl="0" algn="ctr">
                <a:defRPr/>
              </a:pPr>
              <a:r>
                <a:rPr lang="zh-CN" altLang="en-US" sz="3200" spc="300" dirty="0">
                  <a:solidFill>
                    <a:prstClr val="black"/>
                  </a:solidFill>
                  <a:cs typeface="+mn-ea"/>
                  <a:sym typeface="+mn-lt"/>
                </a:rPr>
                <a:t>森林火灾发生的阶段 </a:t>
              </a:r>
            </a:p>
          </p:txBody>
        </p:sp>
        <p:sp>
          <p:nvSpPr>
            <p:cNvPr id="25"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cs typeface="+mn-ea"/>
                  <a:sym typeface="+mn-lt"/>
                </a:rPr>
                <a:t> </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9379473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1.</a:t>
              </a:r>
              <a:r>
                <a:rPr lang="zh-CN" altLang="en-US" sz="4000" dirty="0">
                  <a:cs typeface="+mn-ea"/>
                  <a:sym typeface="+mn-lt"/>
                </a:rPr>
                <a:t> 引燃</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1" name="Picture 20" descr="A picture containing indoor, dark&#10;&#10;Description automatically generated">
            <a:extLst>
              <a:ext uri="{FF2B5EF4-FFF2-40B4-BE49-F238E27FC236}">
                <a16:creationId xmlns:a16="http://schemas.microsoft.com/office/drawing/2014/main" id="{B7ABF2D1-8E54-984B-A8C5-9987AA5846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96653" y="2318286"/>
            <a:ext cx="3675460" cy="3747890"/>
          </a:xfrm>
          <a:prstGeom prst="rect">
            <a:avLst/>
          </a:prstGeom>
          <a:noFill/>
          <a:ln>
            <a:noFill/>
          </a:ln>
        </p:spPr>
      </p:pic>
    </p:spTree>
    <p:custDataLst>
      <p:tags r:id="rId1"/>
    </p:custDataLst>
    <p:extLst>
      <p:ext uri="{BB962C8B-B14F-4D97-AF65-F5344CB8AC3E}">
        <p14:creationId xmlns:p14="http://schemas.microsoft.com/office/powerpoint/2010/main" val="33751073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2.</a:t>
              </a:r>
              <a:r>
                <a:rPr lang="zh-CN" altLang="en-US" sz="4000" dirty="0">
                  <a:cs typeface="+mn-ea"/>
                  <a:sym typeface="+mn-lt"/>
                </a:rPr>
                <a:t> 燃烧</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Picture 6" descr="A picture containing text, indoor, dark&#10;&#10;Description automatically generated">
            <a:extLst>
              <a:ext uri="{FF2B5EF4-FFF2-40B4-BE49-F238E27FC236}">
                <a16:creationId xmlns:a16="http://schemas.microsoft.com/office/drawing/2014/main" id="{AFB3F8E7-572A-F24B-9490-C857778E4A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7167" y="2105874"/>
            <a:ext cx="2927523" cy="4111873"/>
          </a:xfrm>
          <a:prstGeom prst="rect">
            <a:avLst/>
          </a:prstGeom>
          <a:noFill/>
          <a:ln>
            <a:noFill/>
          </a:ln>
        </p:spPr>
      </p:pic>
    </p:spTree>
    <p:custDataLst>
      <p:tags r:id="rId1"/>
    </p:custDataLst>
    <p:extLst>
      <p:ext uri="{BB962C8B-B14F-4D97-AF65-F5344CB8AC3E}">
        <p14:creationId xmlns:p14="http://schemas.microsoft.com/office/powerpoint/2010/main" val="1713589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3.</a:t>
              </a:r>
              <a:r>
                <a:rPr lang="zh-CN" altLang="en-US" sz="4000" dirty="0">
                  <a:cs typeface="+mn-ea"/>
                  <a:sym typeface="+mn-lt"/>
                </a:rPr>
                <a:t> 过渡阶段</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Picture 6" descr="A picture containing nature, indoor, dark, fireplace&#10;&#10;Description automatically generated">
            <a:extLst>
              <a:ext uri="{FF2B5EF4-FFF2-40B4-BE49-F238E27FC236}">
                <a16:creationId xmlns:a16="http://schemas.microsoft.com/office/drawing/2014/main" id="{F48BF19B-68E1-9049-B6B8-B22CC77CB1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4538" y="1757356"/>
            <a:ext cx="3292331" cy="4919515"/>
          </a:xfrm>
          <a:prstGeom prst="rect">
            <a:avLst/>
          </a:prstGeom>
          <a:noFill/>
          <a:ln>
            <a:noFill/>
          </a:ln>
        </p:spPr>
      </p:pic>
    </p:spTree>
    <p:custDataLst>
      <p:tags r:id="rId1"/>
    </p:custDataLst>
    <p:extLst>
      <p:ext uri="{BB962C8B-B14F-4D97-AF65-F5344CB8AC3E}">
        <p14:creationId xmlns:p14="http://schemas.microsoft.com/office/powerpoint/2010/main" val="22887121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1.</a:t>
              </a:r>
              <a:r>
                <a:rPr lang="zh-CN" altLang="en-US" sz="4000" dirty="0">
                  <a:cs typeface="+mn-ea"/>
                  <a:sym typeface="+mn-lt"/>
                </a:rPr>
                <a:t> 引燃</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Picture 6" descr="A picture containing dark&#10;&#10;Description automatically generated">
            <a:extLst>
              <a:ext uri="{FF2B5EF4-FFF2-40B4-BE49-F238E27FC236}">
                <a16:creationId xmlns:a16="http://schemas.microsoft.com/office/drawing/2014/main" id="{30BF6171-6738-AE49-BFE3-D52E9E5BF1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9162" y="1757356"/>
            <a:ext cx="3154074" cy="4985685"/>
          </a:xfrm>
          <a:prstGeom prst="rect">
            <a:avLst/>
          </a:prstGeom>
          <a:noFill/>
          <a:ln>
            <a:noFill/>
          </a:ln>
        </p:spPr>
      </p:pic>
    </p:spTree>
    <p:custDataLst>
      <p:tags r:id="rId1"/>
    </p:custDataLst>
    <p:extLst>
      <p:ext uri="{BB962C8B-B14F-4D97-AF65-F5344CB8AC3E}">
        <p14:creationId xmlns:p14="http://schemas.microsoft.com/office/powerpoint/2010/main" val="25266213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822EAB1A-0613-4B84-B43A-020769A84C2F}"/>
              </a:ext>
            </a:extLst>
          </p:cNvPr>
          <p:cNvSpPr/>
          <p:nvPr/>
        </p:nvSpPr>
        <p:spPr>
          <a:xfrm rot="2684577">
            <a:off x="1698063" y="-917755"/>
            <a:ext cx="8693513" cy="8693513"/>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矩形: 圆角 3">
            <a:extLst>
              <a:ext uri="{FF2B5EF4-FFF2-40B4-BE49-F238E27FC236}">
                <a16:creationId xmlns:a16="http://schemas.microsoft.com/office/drawing/2014/main" id="{CFAF4C25-9AB4-4329-B21C-0F7CB88F0784}"/>
              </a:ext>
            </a:extLst>
          </p:cNvPr>
          <p:cNvSpPr/>
          <p:nvPr/>
        </p:nvSpPr>
        <p:spPr>
          <a:xfrm rot="2684577">
            <a:off x="2627892" y="-39108"/>
            <a:ext cx="6936217" cy="6936217"/>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文本框 6">
            <a:extLst>
              <a:ext uri="{FF2B5EF4-FFF2-40B4-BE49-F238E27FC236}">
                <a16:creationId xmlns:a16="http://schemas.microsoft.com/office/drawing/2014/main" id="{D2947702-0219-4F74-958A-0A5A704ECCC4}"/>
              </a:ext>
            </a:extLst>
          </p:cNvPr>
          <p:cNvSpPr txBox="1"/>
          <p:nvPr/>
        </p:nvSpPr>
        <p:spPr>
          <a:xfrm>
            <a:off x="2705100" y="2755433"/>
            <a:ext cx="6781800"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1000" normalizeH="0" baseline="0" noProof="0" dirty="0">
                <a:ln>
                  <a:noFill/>
                </a:ln>
                <a:solidFill>
                  <a:prstClr val="black">
                    <a:lumMod val="85000"/>
                    <a:lumOff val="15000"/>
                  </a:prstClr>
                </a:solidFill>
                <a:effectLst/>
                <a:uLnTx/>
                <a:uFillTx/>
                <a:latin typeface="Apple Chancery" panose="03020702040506060504" pitchFamily="66" charset="-79"/>
                <a:cs typeface="Apple Chancery" panose="03020702040506060504" pitchFamily="66" charset="-79"/>
                <a:sym typeface="+mn-lt"/>
              </a:rPr>
              <a:t>Thanks for Watching</a:t>
            </a:r>
            <a:endParaRPr kumimoji="0" lang="zh-CN" altLang="en-US" sz="5400" b="0" i="0" u="none" strike="noStrike" kern="1200" cap="none" spc="1000" normalizeH="0" baseline="0" noProof="0" dirty="0">
              <a:ln>
                <a:noFill/>
              </a:ln>
              <a:solidFill>
                <a:prstClr val="black">
                  <a:lumMod val="85000"/>
                  <a:lumOff val="15000"/>
                </a:prstClr>
              </a:solidFill>
              <a:effectLst/>
              <a:uLnTx/>
              <a:uFillTx/>
              <a:latin typeface="Apple Chancery" panose="03020702040506060504" pitchFamily="66" charset="-79"/>
              <a:cs typeface="Apple Chancery" panose="03020702040506060504" pitchFamily="66" charset="-79"/>
              <a:sym typeface="+mn-lt"/>
            </a:endParaRPr>
          </a:p>
        </p:txBody>
      </p:sp>
      <p:sp>
        <p:nvSpPr>
          <p:cNvPr id="8" name="椭圆 7">
            <a:extLst>
              <a:ext uri="{FF2B5EF4-FFF2-40B4-BE49-F238E27FC236}">
                <a16:creationId xmlns:a16="http://schemas.microsoft.com/office/drawing/2014/main" id="{08B93554-9443-4291-83BC-91BEC5088783}"/>
              </a:ext>
            </a:extLst>
          </p:cNvPr>
          <p:cNvSpPr/>
          <p:nvPr/>
        </p:nvSpPr>
        <p:spPr>
          <a:xfrm>
            <a:off x="683912" y="52428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椭圆 8">
            <a:extLst>
              <a:ext uri="{FF2B5EF4-FFF2-40B4-BE49-F238E27FC236}">
                <a16:creationId xmlns:a16="http://schemas.microsoft.com/office/drawing/2014/main" id="{16338DEE-2916-4AC7-A537-1507B9F2A824}"/>
              </a:ext>
            </a:extLst>
          </p:cNvPr>
          <p:cNvSpPr/>
          <p:nvPr/>
        </p:nvSpPr>
        <p:spPr>
          <a:xfrm>
            <a:off x="10464448" y="9333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7" name="组合 12">
            <a:extLst>
              <a:ext uri="{FF2B5EF4-FFF2-40B4-BE49-F238E27FC236}">
                <a16:creationId xmlns:a16="http://schemas.microsoft.com/office/drawing/2014/main" id="{1B9DF95F-99CE-4647-97A4-A513884A1434}"/>
              </a:ext>
            </a:extLst>
          </p:cNvPr>
          <p:cNvGrpSpPr/>
          <p:nvPr/>
        </p:nvGrpSpPr>
        <p:grpSpPr>
          <a:xfrm>
            <a:off x="2705100" y="4704194"/>
            <a:ext cx="6781800" cy="538609"/>
            <a:chOff x="4054927" y="4937733"/>
            <a:chExt cx="1910443" cy="538609"/>
          </a:xfrm>
        </p:grpSpPr>
        <p:sp>
          <p:nvSpPr>
            <p:cNvPr id="19" name="矩形: 圆角 11">
              <a:extLst>
                <a:ext uri="{FF2B5EF4-FFF2-40B4-BE49-F238E27FC236}">
                  <a16:creationId xmlns:a16="http://schemas.microsoft.com/office/drawing/2014/main" id="{E8252C79-908B-7748-A0BF-1F9CB1FA6A6D}"/>
                </a:ext>
              </a:extLst>
            </p:cNvPr>
            <p:cNvSpPr/>
            <p:nvPr/>
          </p:nvSpPr>
          <p:spPr>
            <a:xfrm>
              <a:off x="4204607" y="4937733"/>
              <a:ext cx="1611085" cy="338554"/>
            </a:xfrm>
            <a:prstGeom prst="roundRect">
              <a:avLst>
                <a:gd name="adj" fmla="val 30172"/>
              </a:avLst>
            </a:prstGeom>
            <a:solidFill>
              <a:schemeClr val="bg1"/>
            </a:solidFill>
            <a:ln>
              <a:noFill/>
            </a:ln>
            <a:effectLst>
              <a:outerShdw blurRad="1651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9">
              <a:extLst>
                <a:ext uri="{FF2B5EF4-FFF2-40B4-BE49-F238E27FC236}">
                  <a16:creationId xmlns:a16="http://schemas.microsoft.com/office/drawing/2014/main" id="{9C48839F-4701-E643-BDFB-F17A08D2E661}"/>
                </a:ext>
              </a:extLst>
            </p:cNvPr>
            <p:cNvSpPr txBox="1"/>
            <p:nvPr/>
          </p:nvSpPr>
          <p:spPr>
            <a:xfrm>
              <a:off x="4054927" y="4953122"/>
              <a:ext cx="1910443" cy="523220"/>
            </a:xfrm>
            <a:prstGeom prst="rect">
              <a:avLst/>
            </a:prstGeom>
            <a:noFill/>
          </p:spPr>
          <p:txBody>
            <a:bodyPr wrap="square" rtlCol="0">
              <a:spAutoFit/>
            </a:bodyPr>
            <a:lstStyle/>
            <a:p>
              <a:pPr algn="ctr"/>
              <a:r>
                <a:rPr lang="en-CN" altLang="zh-CN" sz="1400">
                  <a:latin typeface="Apple Chancery" panose="03020702040506060504" pitchFamily="66" charset="-79"/>
                  <a:cs typeface="Apple Chancery" panose="03020702040506060504" pitchFamily="66" charset="-79"/>
                  <a:sym typeface="+mn-lt"/>
                </a:rPr>
                <a:t>Presented</a:t>
              </a:r>
              <a:r>
                <a:rPr lang="zh-CN" altLang="en-US" sz="1400">
                  <a:latin typeface="Apple Chancery" panose="03020702040506060504" pitchFamily="66" charset="-79"/>
                  <a:cs typeface="Apple Chancery" panose="03020702040506060504" pitchFamily="66" charset="-79"/>
                  <a:sym typeface="+mn-lt"/>
                </a:rPr>
                <a:t> </a:t>
              </a:r>
              <a:r>
                <a:rPr lang="en-US" altLang="zh-CN" sz="1400" dirty="0">
                  <a:latin typeface="Apple Chancery" panose="03020702040506060504" pitchFamily="66" charset="-79"/>
                  <a:cs typeface="Apple Chancery" panose="03020702040506060504" pitchFamily="66" charset="-79"/>
                  <a:sym typeface="+mn-lt"/>
                </a:rPr>
                <a:t>by</a:t>
              </a:r>
              <a:r>
                <a:rPr lang="zh-CN" altLang="en-US" sz="1400" dirty="0">
                  <a:latin typeface="Apple Chancery" panose="03020702040506060504" pitchFamily="66" charset="-79"/>
                  <a:cs typeface="Apple Chancery" panose="03020702040506060504" pitchFamily="66" charset="-79"/>
                </a:rPr>
                <a:t> </a:t>
              </a:r>
              <a:r>
                <a:rPr lang="zh-CN" altLang="en-US" sz="1400" dirty="0"/>
                <a:t>罗嘉劭、</a:t>
              </a:r>
              <a:r>
                <a:rPr lang="zh-CN" altLang="en-CN" sz="1400" dirty="0"/>
                <a:t>顾贝琪</a:t>
              </a:r>
              <a:r>
                <a:rPr lang="zh-CN" altLang="en-US" sz="1400" dirty="0"/>
                <a:t>、</a:t>
              </a:r>
              <a:r>
                <a:rPr lang="zh-CN" altLang="en-CN" sz="1400" dirty="0"/>
                <a:t>黄睿</a:t>
              </a:r>
              <a:r>
                <a:rPr lang="zh-CN" altLang="en-US" sz="1400" dirty="0"/>
                <a:t>凝、周宏远、</a:t>
              </a:r>
              <a:r>
                <a:rPr lang="zh-CN" altLang="en-CN" sz="1400" dirty="0"/>
                <a:t>张俊昊</a:t>
              </a:r>
              <a:endParaRPr lang="en-CN" sz="1400" dirty="0"/>
            </a:p>
            <a:p>
              <a:pPr algn="ctr"/>
              <a:endParaRPr lang="zh-CN" altLang="en-US" sz="1400" dirty="0">
                <a:cs typeface="+mn-ea"/>
                <a:sym typeface="+mn-lt"/>
              </a:endParaRPr>
            </a:p>
          </p:txBody>
        </p:sp>
      </p:grpSp>
    </p:spTree>
    <p:custDataLst>
      <p:tags r:id="rId1"/>
    </p:custDataLst>
    <p:extLst>
      <p:ext uri="{BB962C8B-B14F-4D97-AF65-F5344CB8AC3E}">
        <p14:creationId xmlns:p14="http://schemas.microsoft.com/office/powerpoint/2010/main" val="21840220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1|0.6|0.5|0.9"/>
</p:tagLst>
</file>

<file path=ppt/tags/tag2.xml><?xml version="1.0" encoding="utf-8"?>
<p:tagLst xmlns:a="http://schemas.openxmlformats.org/drawingml/2006/main" xmlns:r="http://schemas.openxmlformats.org/officeDocument/2006/relationships" xmlns:p="http://schemas.openxmlformats.org/presentationml/2006/main">
  <p:tag name="TIMING" val="|0.6|0.6|0.6|0.7|0.4|0.5|0.5|0.5|0.5|0.4"/>
</p:tagLst>
</file>

<file path=ppt/tags/tag3.xml><?xml version="1.0" encoding="utf-8"?>
<p:tagLst xmlns:a="http://schemas.openxmlformats.org/drawingml/2006/main" xmlns:r="http://schemas.openxmlformats.org/officeDocument/2006/relationships" xmlns:p="http://schemas.openxmlformats.org/presentationml/2006/main">
  <p:tag name="TIMING" val="|0.5|0.4"/>
</p:tagLst>
</file>

<file path=ppt/tags/tag4.xml><?xml version="1.0" encoding="utf-8"?>
<p:tagLst xmlns:a="http://schemas.openxmlformats.org/drawingml/2006/main" xmlns:r="http://schemas.openxmlformats.org/officeDocument/2006/relationships" xmlns:p="http://schemas.openxmlformats.org/presentationml/2006/main">
  <p:tag name="TIMING" val="|0.5|0.5|0.6|0.5|0.4"/>
</p:tagLst>
</file>

<file path=ppt/tags/tag5.xml><?xml version="1.0" encoding="utf-8"?>
<p:tagLst xmlns:a="http://schemas.openxmlformats.org/drawingml/2006/main" xmlns:r="http://schemas.openxmlformats.org/officeDocument/2006/relationships" xmlns:p="http://schemas.openxmlformats.org/presentationml/2006/main">
  <p:tag name="TIMING" val="|0|0.6|0.5"/>
</p:tagLst>
</file>

<file path=ppt/tags/tag6.xml><?xml version="1.0" encoding="utf-8"?>
<p:tagLst xmlns:a="http://schemas.openxmlformats.org/drawingml/2006/main" xmlns:r="http://schemas.openxmlformats.org/officeDocument/2006/relationships" xmlns:p="http://schemas.openxmlformats.org/presentationml/2006/main">
  <p:tag name="TIMING" val="|0.4|0.5"/>
</p:tagLst>
</file>

<file path=ppt/tags/tag7.xml><?xml version="1.0" encoding="utf-8"?>
<p:tagLst xmlns:a="http://schemas.openxmlformats.org/drawingml/2006/main" xmlns:r="http://schemas.openxmlformats.org/officeDocument/2006/relationships" xmlns:p="http://schemas.openxmlformats.org/presentationml/2006/main">
  <p:tag name="TIMING" val="|0.5|0.5|0.6|0.7|0.6|0.6|0.5|0.6|0.5"/>
</p:tagLst>
</file>

<file path=ppt/tags/tag8.xml><?xml version="1.0" encoding="utf-8"?>
<p:tagLst xmlns:a="http://schemas.openxmlformats.org/drawingml/2006/main" xmlns:r="http://schemas.openxmlformats.org/officeDocument/2006/relationships" xmlns:p="http://schemas.openxmlformats.org/presentationml/2006/main">
  <p:tag name="TIMING" val="|0|0.6|0.5|0.7|0.5|0.5|0.5|0.8|0.7|0.7"/>
</p:tagLst>
</file>

<file path=ppt/tags/tag9.xml><?xml version="1.0" encoding="utf-8"?>
<p:tagLst xmlns:a="http://schemas.openxmlformats.org/drawingml/2006/main" xmlns:r="http://schemas.openxmlformats.org/officeDocument/2006/relationships" xmlns:p="http://schemas.openxmlformats.org/presentationml/2006/main">
  <p:tag name="TIMING" val="|0|0.6"/>
</p:tagLst>
</file>

<file path=ppt/tags/tag10.xml><?xml version="1.0" encoding="utf-8"?>
<p:tagLst xmlns:a="http://schemas.openxmlformats.org/drawingml/2006/main" xmlns:r="http://schemas.openxmlformats.org/officeDocument/2006/relationships" xmlns:p="http://schemas.openxmlformats.org/presentationml/2006/main">
  <p:tag name="TIMING" val="|0.8|0.6|0.7|2.3|1.3|1.3"/>
</p:tagLst>
</file>

<file path=ppt/tags/tag11.xml><?xml version="1.0" encoding="utf-8"?>
<p:tagLst xmlns:a="http://schemas.openxmlformats.org/drawingml/2006/main" xmlns:r="http://schemas.openxmlformats.org/officeDocument/2006/relationships" xmlns:p="http://schemas.openxmlformats.org/presentationml/2006/main">
  <p:tag name="TIMING" val="|0|0.6"/>
</p:tagLst>
</file>

<file path=ppt/tags/tag12.xml><?xml version="1.0" encoding="utf-8"?>
<p:tagLst xmlns:a="http://schemas.openxmlformats.org/drawingml/2006/main" xmlns:r="http://schemas.openxmlformats.org/officeDocument/2006/relationships" xmlns:p="http://schemas.openxmlformats.org/presentationml/2006/main">
  <p:tag name="TIMING" val="|0.5|0.5|0.6|0.5|0.4"/>
</p:tagLst>
</file>

<file path=ppt/tags/tag13.xml><?xml version="1.0" encoding="utf-8"?>
<p:tagLst xmlns:a="http://schemas.openxmlformats.org/drawingml/2006/main" xmlns:r="http://schemas.openxmlformats.org/officeDocument/2006/relationships" xmlns:p="http://schemas.openxmlformats.org/presentationml/2006/main">
  <p:tag name="TIMING" val="|0.5|0.5|0.6|0.5|0.4"/>
</p:tagLst>
</file>

<file path=ppt/tags/tag14.xml><?xml version="1.0" encoding="utf-8"?>
<p:tagLst xmlns:a="http://schemas.openxmlformats.org/drawingml/2006/main" xmlns:r="http://schemas.openxmlformats.org/officeDocument/2006/relationships" xmlns:p="http://schemas.openxmlformats.org/presentationml/2006/main">
  <p:tag name="TIMING" val="|0|0.6"/>
</p:tagLst>
</file>

<file path=ppt/tags/tag15.xml><?xml version="1.0" encoding="utf-8"?>
<p:tagLst xmlns:a="http://schemas.openxmlformats.org/drawingml/2006/main" xmlns:r="http://schemas.openxmlformats.org/officeDocument/2006/relationships" xmlns:p="http://schemas.openxmlformats.org/presentationml/2006/main">
  <p:tag name="TIMING" val="|0.8|0.6|0.7|2.3|1.3|1.3"/>
</p:tagLst>
</file>

<file path=ppt/tags/tag16.xml><?xml version="1.0" encoding="utf-8"?>
<p:tagLst xmlns:a="http://schemas.openxmlformats.org/drawingml/2006/main" xmlns:r="http://schemas.openxmlformats.org/officeDocument/2006/relationships" xmlns:p="http://schemas.openxmlformats.org/presentationml/2006/main">
  <p:tag name="TIMING" val="|0.8|0.6|0.7|2.3|1.3|1.3"/>
</p:tagLst>
</file>

<file path=ppt/tags/tag17.xml><?xml version="1.0" encoding="utf-8"?>
<p:tagLst xmlns:a="http://schemas.openxmlformats.org/drawingml/2006/main" xmlns:r="http://schemas.openxmlformats.org/officeDocument/2006/relationships" xmlns:p="http://schemas.openxmlformats.org/presentationml/2006/main">
  <p:tag name="TIMING" val="|0.8|0.6|0.7|2.3|1.3|1.3"/>
</p:tagLst>
</file>

<file path=ppt/tags/tag18.xml><?xml version="1.0" encoding="utf-8"?>
<p:tagLst xmlns:a="http://schemas.openxmlformats.org/drawingml/2006/main" xmlns:r="http://schemas.openxmlformats.org/officeDocument/2006/relationships" xmlns:p="http://schemas.openxmlformats.org/presentationml/2006/main">
  <p:tag name="TIMING" val="|0.8|0.6|0.7|2.3|1.3|1.3"/>
</p:tagLst>
</file>

<file path=ppt/tags/tag19.xml><?xml version="1.0" encoding="utf-8"?>
<p:tagLst xmlns:a="http://schemas.openxmlformats.org/drawingml/2006/main" xmlns:r="http://schemas.openxmlformats.org/officeDocument/2006/relationships" xmlns:p="http://schemas.openxmlformats.org/presentationml/2006/main">
  <p:tag name="TIMING" val="|0.4|0.5|1.1|0.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jj2gxoh">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1087</TotalTime>
  <Words>492</Words>
  <Application>Microsoft Macintosh PowerPoint</Application>
  <PresentationFormat>Widescreen</PresentationFormat>
  <Paragraphs>65</Paragraphs>
  <Slides>19</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微软雅黑</vt:lpstr>
      <vt:lpstr>Apple Chancery</vt:lpstr>
      <vt:lpstr>Arial</vt:lpstr>
      <vt:lpstr>Calibri</vt:lpstr>
      <vt:lpstr>Century Gothic</vt:lpstr>
      <vt:lpstr>第一PPT，www.1ppt.com</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
  <cp:keywords/>
  <dc:description/>
  <cp:lastModifiedBy>罗 嘉劭</cp:lastModifiedBy>
  <cp:revision>158</cp:revision>
  <dcterms:created xsi:type="dcterms:W3CDTF">2020-11-05T09:34:12Z</dcterms:created>
  <dcterms:modified xsi:type="dcterms:W3CDTF">2021-11-15T14:54:54Z</dcterms:modified>
</cp:coreProperties>
</file>